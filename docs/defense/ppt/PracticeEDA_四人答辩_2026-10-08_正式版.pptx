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70cf96225a4f9c" /><Relationship Type="http://schemas.openxmlformats.org/officeDocument/2006/relationships/extended-properties" Target="/docProps/app.xml" Id="R1d23a54e685f4e4d" /><Relationship Type="http://schemas.openxmlformats.org/officeDocument/2006/relationships/officeDocument" Target="/ppt/presentation.xml" Id="Rd2c500824f5848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9ce6743ddd46f4"/>
  </p:sldMasterIdLst>
  <p:notesMasterIdLst>
    <p:notesMasterId xmlns:r="http://schemas.openxmlformats.org/officeDocument/2006/relationships" r:id="Rfc8a8fd694724889"/>
  </p:notesMasterIdLst>
  <p:sldIdLst>
    <p:sldId xmlns:r="http://schemas.openxmlformats.org/officeDocument/2006/relationships" id="256" r:id="Refb2ad7563c64e7c"/>
    <p:sldId xmlns:r="http://schemas.openxmlformats.org/officeDocument/2006/relationships" id="257" r:id="R11f1655eeb9144ca"/>
    <p:sldId xmlns:r="http://schemas.openxmlformats.org/officeDocument/2006/relationships" id="258" r:id="R9ded1c51e2094373"/>
    <p:sldId xmlns:r="http://schemas.openxmlformats.org/officeDocument/2006/relationships" id="259" r:id="Rf07c22f44b754cd1"/>
    <p:sldId xmlns:r="http://schemas.openxmlformats.org/officeDocument/2006/relationships" id="260" r:id="R4baf3225dd0f491b"/>
    <p:sldId xmlns:r="http://schemas.openxmlformats.org/officeDocument/2006/relationships" id="261" r:id="R6743d0114e314dba"/>
    <p:sldId xmlns:r="http://schemas.openxmlformats.org/officeDocument/2006/relationships" id="262" r:id="Rba75b5f87c3645bd"/>
    <p:sldId xmlns:r="http://schemas.openxmlformats.org/officeDocument/2006/relationships" id="263" r:id="R1f978dc2a6d8446d"/>
    <p:sldId xmlns:r="http://schemas.openxmlformats.org/officeDocument/2006/relationships" id="264" r:id="R4a5d811534f24373"/>
    <p:sldId xmlns:r="http://schemas.openxmlformats.org/officeDocument/2006/relationships" id="265" r:id="R24415133a7874397"/>
    <p:sldId xmlns:r="http://schemas.openxmlformats.org/officeDocument/2006/relationships" id="266" r:id="Rbf097b15fdd34e09"/>
    <p:sldId xmlns:r="http://schemas.openxmlformats.org/officeDocument/2006/relationships" id="267" r:id="R1145feae00df4674"/>
    <p:sldId xmlns:r="http://schemas.openxmlformats.org/officeDocument/2006/relationships" id="268" r:id="R0b1e8a2ecefd4eb3"/>
    <p:sldId xmlns:r="http://schemas.openxmlformats.org/officeDocument/2006/relationships" id="269" r:id="Rda1a73c12bd24fd5"/>
    <p:sldId xmlns:r="http://schemas.openxmlformats.org/officeDocument/2006/relationships" id="270" r:id="Rdd9feffda6c44e26"/>
    <p:sldId xmlns:r="http://schemas.openxmlformats.org/officeDocument/2006/relationships" id="271" r:id="Ra81c025e92384ff9"/>
    <p:sldId xmlns:r="http://schemas.openxmlformats.org/officeDocument/2006/relationships" id="272" r:id="R874d523bc3a74941"/>
    <p:sldId xmlns:r="http://schemas.openxmlformats.org/officeDocument/2006/relationships" id="273" r:id="R90b44f3aecd14239"/>
    <p:sldId xmlns:r="http://schemas.openxmlformats.org/officeDocument/2006/relationships" id="274" r:id="R3a33d8c413da4d13"/>
    <p:sldId xmlns:r="http://schemas.openxmlformats.org/officeDocument/2006/relationships" id="275" r:id="Ra60312a190f54f6a"/>
    <p:sldId xmlns:r="http://schemas.openxmlformats.org/officeDocument/2006/relationships" id="276" r:id="R5d57a49a58504d3a"/>
    <p:sldId xmlns:r="http://schemas.openxmlformats.org/officeDocument/2006/relationships" id="277" r:id="Rb021fa6550fb4c0e"/>
    <p:sldId xmlns:r="http://schemas.openxmlformats.org/officeDocument/2006/relationships" id="278" r:id="Re5a32fda28a04e3d"/>
    <p:sldId xmlns:r="http://schemas.openxmlformats.org/officeDocument/2006/relationships" id="279" r:id="R9947bf6cb913407b"/>
    <p:sldId xmlns:r="http://schemas.openxmlformats.org/officeDocument/2006/relationships" id="280" r:id="Rfad31254df9f4a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b24dfd2cd84ad7" /><Relationship Type="http://schemas.openxmlformats.org/officeDocument/2006/relationships/slideMaster" Target="/ppt/slideMasters/slideMaster1.xml" Id="Ra79ce6743ddd46f4" /><Relationship Type="http://schemas.openxmlformats.org/officeDocument/2006/relationships/notesMaster" Target="/ppt/notesMasters/notesMaster1.xml" Id="Rfc8a8fd694724889" /><Relationship Type="http://schemas.openxmlformats.org/officeDocument/2006/relationships/presProps" Target="/ppt/presProps.xml" Id="R2fd030f10e5b4c32" /><Relationship Type="http://schemas.openxmlformats.org/officeDocument/2006/relationships/tableStyles" Target="/ppt/tableStyles.xml" Id="R1e9885ee0d35479e" /><Relationship Type="http://schemas.openxmlformats.org/officeDocument/2006/relationships/slide" Target="/ppt/slides/slide1.xml" Id="Refb2ad7563c64e7c" /><Relationship Type="http://schemas.openxmlformats.org/officeDocument/2006/relationships/slide" Target="/ppt/slides/slide2.xml" Id="R11f1655eeb9144ca" /><Relationship Type="http://schemas.openxmlformats.org/officeDocument/2006/relationships/slide" Target="/ppt/slides/slide3.xml" Id="R9ded1c51e2094373" /><Relationship Type="http://schemas.openxmlformats.org/officeDocument/2006/relationships/slide" Target="/ppt/slides/slide4.xml" Id="Rf07c22f44b754cd1" /><Relationship Type="http://schemas.openxmlformats.org/officeDocument/2006/relationships/slide" Target="/ppt/slides/slide5.xml" Id="R4baf3225dd0f491b" /><Relationship Type="http://schemas.openxmlformats.org/officeDocument/2006/relationships/slide" Target="/ppt/slides/slide6.xml" Id="R6743d0114e314dba" /><Relationship Type="http://schemas.openxmlformats.org/officeDocument/2006/relationships/slide" Target="/ppt/slides/slide7.xml" Id="Rba75b5f87c3645bd" /><Relationship Type="http://schemas.openxmlformats.org/officeDocument/2006/relationships/slide" Target="/ppt/slides/slide8.xml" Id="R1f978dc2a6d8446d" /><Relationship Type="http://schemas.openxmlformats.org/officeDocument/2006/relationships/slide" Target="/ppt/slides/slide9.xml" Id="R4a5d811534f24373" /><Relationship Type="http://schemas.openxmlformats.org/officeDocument/2006/relationships/slide" Target="/ppt/slides/slide10.xml" Id="R24415133a7874397" /><Relationship Type="http://schemas.openxmlformats.org/officeDocument/2006/relationships/slide" Target="/ppt/slides/slide11.xml" Id="Rbf097b15fdd34e09" /><Relationship Type="http://schemas.openxmlformats.org/officeDocument/2006/relationships/slide" Target="/ppt/slides/slide12.xml" Id="R1145feae00df4674" /><Relationship Type="http://schemas.openxmlformats.org/officeDocument/2006/relationships/slide" Target="/ppt/slides/slide13.xml" Id="R0b1e8a2ecefd4eb3" /><Relationship Type="http://schemas.openxmlformats.org/officeDocument/2006/relationships/slide" Target="/ppt/slides/slide14.xml" Id="Rda1a73c12bd24fd5" /><Relationship Type="http://schemas.openxmlformats.org/officeDocument/2006/relationships/slide" Target="/ppt/slides/slide15.xml" Id="Rdd9feffda6c44e26" /><Relationship Type="http://schemas.openxmlformats.org/officeDocument/2006/relationships/slide" Target="/ppt/slides/slide16.xml" Id="Ra81c025e92384ff9" /><Relationship Type="http://schemas.openxmlformats.org/officeDocument/2006/relationships/slide" Target="/ppt/slides/slide17.xml" Id="R874d523bc3a74941" /><Relationship Type="http://schemas.openxmlformats.org/officeDocument/2006/relationships/slide" Target="/ppt/slides/slide18.xml" Id="R90b44f3aecd14239" /><Relationship Type="http://schemas.openxmlformats.org/officeDocument/2006/relationships/slide" Target="/ppt/slides/slide19.xml" Id="R3a33d8c413da4d13" /><Relationship Type="http://schemas.openxmlformats.org/officeDocument/2006/relationships/slide" Target="/ppt/slides/slide20.xml" Id="Ra60312a190f54f6a" /><Relationship Type="http://schemas.openxmlformats.org/officeDocument/2006/relationships/slide" Target="/ppt/slides/slide21.xml" Id="R5d57a49a58504d3a" /><Relationship Type="http://schemas.openxmlformats.org/officeDocument/2006/relationships/slide" Target="/ppt/slides/slide22.xml" Id="Rb021fa6550fb4c0e" /><Relationship Type="http://schemas.openxmlformats.org/officeDocument/2006/relationships/slide" Target="/ppt/slides/slide23.xml" Id="Re5a32fda28a04e3d" /><Relationship Type="http://schemas.openxmlformats.org/officeDocument/2006/relationships/slide" Target="/ppt/slides/slide24.xml" Id="R9947bf6cb913407b" /><Relationship Type="http://schemas.openxmlformats.org/officeDocument/2006/relationships/slide" Target="/ppt/slides/slide25.xml" Id="Rfad31254df9f4a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f791c085124a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5337d34412472a" /><Relationship Type="http://schemas.openxmlformats.org/officeDocument/2006/relationships/notesMaster" Target="/ppt/notesMasters/notesMaster1.xml" Id="R4e56b084089d49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21f34b0086402e" /><Relationship Type="http://schemas.openxmlformats.org/officeDocument/2006/relationships/notesMaster" Target="/ppt/notesMasters/notesMaster1.xml" Id="R4f4cf57d16904b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ec227715a84037" /><Relationship Type="http://schemas.openxmlformats.org/officeDocument/2006/relationships/notesMaster" Target="/ppt/notesMasters/notesMaster1.xml" Id="R8f3c87ec7a8e4f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51ac988a564d69" /><Relationship Type="http://schemas.openxmlformats.org/officeDocument/2006/relationships/notesMaster" Target="/ppt/notesMasters/notesMaster1.xml" Id="R7d23e45fdf9348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0452f1bda8498f" /><Relationship Type="http://schemas.openxmlformats.org/officeDocument/2006/relationships/notesMaster" Target="/ppt/notesMasters/notesMaster1.xml" Id="Rbdad10aa391b49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7a28fe1cba4ce1" /><Relationship Type="http://schemas.openxmlformats.org/officeDocument/2006/relationships/notesMaster" Target="/ppt/notesMasters/notesMaster1.xml" Id="R6ef551edbade4c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04222ed2334e8a" /><Relationship Type="http://schemas.openxmlformats.org/officeDocument/2006/relationships/notesMaster" Target="/ppt/notesMasters/notesMaster1.xml" Id="Rb3a61f53228848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e17f2d57e64d37" /><Relationship Type="http://schemas.openxmlformats.org/officeDocument/2006/relationships/notesMaster" Target="/ppt/notesMasters/notesMaster1.xml" Id="Rc038b20e96094d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e810745684455e" /><Relationship Type="http://schemas.openxmlformats.org/officeDocument/2006/relationships/notesMaster" Target="/ppt/notesMasters/notesMaster1.xml" Id="R0367ac7585dd4f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6119800f484527" /><Relationship Type="http://schemas.openxmlformats.org/officeDocument/2006/relationships/notesMaster" Target="/ppt/notesMasters/notesMaster1.xml" Id="R07d0e7f269264b7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c85243e41c94a21" /><Relationship Type="http://schemas.openxmlformats.org/officeDocument/2006/relationships/notesMaster" Target="/ppt/notesMasters/notesMaster1.xml" Id="R0b69cbfc394d4c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80bd6952d404365" /><Relationship Type="http://schemas.openxmlformats.org/officeDocument/2006/relationships/notesMaster" Target="/ppt/notesMasters/notesMaster1.xml" Id="R49a92bc1d8d9445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25f001ab062453a" /><Relationship Type="http://schemas.openxmlformats.org/officeDocument/2006/relationships/notesMaster" Target="/ppt/notesMasters/notesMaster1.xml" Id="R3bcac87baddb4da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065b5d9c71848eb" /><Relationship Type="http://schemas.openxmlformats.org/officeDocument/2006/relationships/notesMaster" Target="/ppt/notesMasters/notesMaster1.xml" Id="Rd50af4109c514e7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9ecd30e42f649f0" /><Relationship Type="http://schemas.openxmlformats.org/officeDocument/2006/relationships/notesMaster" Target="/ppt/notesMasters/notesMaster1.xml" Id="Rd8ccf5207a4944c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ad897267f244aab" /><Relationship Type="http://schemas.openxmlformats.org/officeDocument/2006/relationships/notesMaster" Target="/ppt/notesMasters/notesMaster1.xml" Id="R1d61c251d341468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cb5d7dc081344b7" /><Relationship Type="http://schemas.openxmlformats.org/officeDocument/2006/relationships/notesMaster" Target="/ppt/notesMasters/notesMaster1.xml" Id="Rdd57cc554c074a1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c70f2cf460f46c6" /><Relationship Type="http://schemas.openxmlformats.org/officeDocument/2006/relationships/notesMaster" Target="/ppt/notesMasters/notesMaster1.xml" Id="R605a1c26a6c5479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742c29b1ef44e07" /><Relationship Type="http://schemas.openxmlformats.org/officeDocument/2006/relationships/notesMaster" Target="/ppt/notesMasters/notesMaster1.xml" Id="R1f332dd1549240f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06c3b5c26884b1b" /><Relationship Type="http://schemas.openxmlformats.org/officeDocument/2006/relationships/notesMaster" Target="/ppt/notesMasters/notesMaster1.xml" Id="Rb94e3c5fe331447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ee7f3264e93406e" /><Relationship Type="http://schemas.openxmlformats.org/officeDocument/2006/relationships/notesMaster" Target="/ppt/notesMasters/notesMaster1.xml" Id="Re92658bd104f48d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61cb29d64504c2a" /><Relationship Type="http://schemas.openxmlformats.org/officeDocument/2006/relationships/notesMaster" Target="/ppt/notesMasters/notesMaster1.xml" Id="R25691aa1afee4c8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624c45c89ff4c1d" /><Relationship Type="http://schemas.openxmlformats.org/officeDocument/2006/relationships/notesMaster" Target="/ppt/notesMasters/notesMaster1.xml" Id="R65e10d5ef110452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8c0d61b23a64359" /><Relationship Type="http://schemas.openxmlformats.org/officeDocument/2006/relationships/notesMaster" Target="/ppt/notesMasters/notesMaster1.xml" Id="R65a927b1b3c046a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e83cc7853aa413a" /><Relationship Type="http://schemas.openxmlformats.org/officeDocument/2006/relationships/notesMaster" Target="/ppt/notesMasters/notesMaster1.xml" Id="Rb0743ce7c7674f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PracticeEDA：可编辑、可运行、可追踪 · 常人元 · 21秒</a:t>
            </a:r>
          </a:p>
          <a:p xmlns:a="http://schemas.openxmlformats.org/drawingml/2006/main">
            <a:r>
              <a:t>各位老师好，我们是常人元、闫浩楠、杨曙启、黄歆贻。我们展示的是 PracticeEDA，一个沿用 wxWidgets 桌面架构的数字逻辑编辑与仿真程序。</a:t>
            </a:r>
          </a:p>
          <a:p xmlns:a="http://schemas.openxmlformats.org/drawingml/2006/main">
            <a:r>
              <a:t>这次优化围绕可编辑、可运行、可追踪展开，重点展示多层子电路的真实实例调试。下面按架构、编辑、仿真、交换与验证四个板块介绍。</a:t>
            </a:r>
          </a:p>
          <a:p xmlns:a="http://schemas.openxmlformats.org/drawingml/2006/main">
            <a:r>
              <a:t>证据：CMakeLists.txt；docs/OPTIMIZATION_ACCEPTANCE_CN.md</a:t>
            </a:r>
          </a:p>
          <a:p xmlns:a="http://schemas.openxmlformats.org/drawingml/2006/main">
            <a:r>
              <a:t>操作：按本页证据解释，不逐字念屏幕。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2. 四位成员，一条完整技术链 · 常人元 · 18秒</a:t>
            </a:r>
          </a:p>
          <a:p xmlns:a="http://schemas.openxmlformats.org/drawingml/2006/main">
            <a:r>
              <a:t>四位成员按这条技术链依次主讲。常人元负责目标和架构，闫浩楠负责编辑与逻辑综合，杨曙启负责时序和实例调试，黄歆贻负责交换与验证。</a:t>
            </a:r>
          </a:p>
          <a:p xmlns:a="http://schemas.openxmlformats.org/drawingml/2006/main">
            <a:r>
              <a:t>这些是本次答辩的责任分配，历史代码贡献仍以小组的真实记录为准。计划讲解十八分钟，预留两分钟机动，教师问答单独进行。</a:t>
            </a:r>
          </a:p>
          <a:p xmlns:a="http://schemas.openxmlformats.org/drawingml/2006/main">
            <a:r>
              <a:t>证据：用户确认的四人名单与十八分钟安排</a:t>
            </a:r>
          </a:p>
          <a:p xmlns:a="http://schemas.openxmlformats.org/drawingml/2006/main">
            <a:r>
              <a:t>操作：按本页证据解释，不逐字念屏幕。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把课程要求变成可演示的验收项 · 常人元 · 45秒</a:t>
            </a:r>
          </a:p>
          <a:p xmlns:a="http://schemas.openxmlformats.org/drawingml/2006/main">
            <a:r>
              <a:t>任务书要求的不只是画出电路，还包括组件复用、实时仿真、文件读写和能被 PCB 软件加载的标准网表。因此我们把每一项要求映射到程序入口和可观察结果。</a:t>
            </a:r>
          </a:p>
          <a:p xmlns:a="http://schemas.openxmlformats.org/drawingml/2006/main">
            <a:r>
              <a:t>组合电路用完整真值表验证；时序电路看指定时钟沿的采样；层次电路看不同实例的内部状态；文件交换则比较端口、网络和输出。物理网表演示另设真实引脚与封装映射，避免把抽象逻辑器件误当成可生产电路。</a:t>
            </a:r>
          </a:p>
          <a:p xmlns:a="http://schemas.openxmlformats.org/drawingml/2006/main">
            <a:r>
              <a:t>证据：进阶式挑战性综合项目I课题任务书；工业软件创新训练I任务描述；验收清单</a:t>
            </a:r>
          </a:p>
          <a:p xmlns:a="http://schemas.openxmlformats.org/drawingml/2006/main">
            <a:r>
              <a:t>操作：按本页证据解释，不逐字念屏幕。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 延续现有架构，把投入用在功能语义 · 常人元 · 42秒</a:t>
            </a:r>
          </a:p>
          <a:p xmlns:a="http://schemas.openxmlformats.org/drawingml/2006/main">
            <a:r>
              <a:t>界面继续使用 wxWidgets，因为任务环境已经明确，项目也有可复用的事件和绘图代码。替换框架会增加迁移成本，无法直接改善仿真正确性。</a:t>
            </a:r>
          </a:p>
          <a:p xmlns:a="http://schemas.openxmlformats.org/drawingml/2006/main">
            <a:r>
              <a:t>关键选择是将模型与运行状态分开。界面负责操作和展示，核心负责连接、事件与器件求值。这样同一份逻辑可以用于交互、真值表、综合验证和命令行测试。代价是必须维护清楚的公共接口，并为不同格式写显式转换。</a:t>
            </a:r>
          </a:p>
          <a:p xmlns:a="http://schemas.openxmlformats.org/drawingml/2006/main">
            <a:r>
              <a:t>证据：include/Digital.h；src/Digital.cpp；src/DigitalEditor.cpp</a:t>
            </a:r>
          </a:p>
          <a:p xmlns:a="http://schemas.openxmlformats.org/drawingml/2006/main">
            <a:r>
              <a:t>操作：按本页证据解释，不逐字念屏幕。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A01—A18：围绕四条能力链完善 · 常人元 · 57秒</a:t>
            </a:r>
          </a:p>
          <a:p xmlns:a="http://schemas.openxmlformats.org/drawingml/2006/main">
            <a:r>
              <a:t>功能清单按四条能力链组织。编辑侧增加参数化元件和总线映射，复用侧增加自定义引脚。仿真侧完善时钟、计数和存储，并把真实实例路径暴露给界面。</a:t>
            </a:r>
          </a:p>
          <a:p xmlns:a="http://schemas.openxmlformats.org/drawingml/2006/main">
            <a:r>
              <a:t>分析侧实现真值表编辑、化简、卡诺图和门电路综合，再用独立仿真器反向验证生成电路。工程侧补齐交换、日志、模板和输出。这十八项的具体范围写在验收清单中，各项都说明入口、限制和验证方法。这里的完成意味着已实现约定范围，不代表复刻 Logisim 的所有器件与配置。</a:t>
            </a:r>
          </a:p>
          <a:p xmlns:a="http://schemas.openxmlformats.org/drawingml/2006/main">
            <a:r>
              <a:t>证据：docs/OPTIMIZATION_ACCEPTANCE_CN.md；include/LogicAnalysis.h</a:t>
            </a:r>
          </a:p>
          <a:p xmlns:a="http://schemas.openxmlformats.org/drawingml/2006/main">
            <a:r>
              <a:t>操作：按本页证据解释，不逐字念屏幕。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6. 定义保存结构，实例保存运行状态 · 常人元 · 66秒</a:t>
            </a:r>
          </a:p>
          <a:p xmlns:a="http://schemas.openxmlformats.org/drawingml/2006/main">
            <a:r>
              <a:t>模型有三个重要约定。第一，身份和显示名称分开，连线引用稳定 ID，因此改名不会断线。第二，几何和电气分开，位置、旋转和外观影响显示，显式端点决定连接。第三，定义和运行状态分开。</a:t>
            </a:r>
          </a:p>
          <a:p xmlns:a="http://schemas.openxmlformats.org/drawingml/2006/main">
            <a:r>
              <a:t>同一子电路定义可以在左、右各实例化一次，两者结构一样，但展开后的路径不同。寄存器和 RAM 存在各自的运行节点中。保存工程时保存结构和初值，不能把一次运行中左实例的值悄悄写回所有实例共享的定义。这也是层次调试能够可靠实现的基础。</a:t>
            </a:r>
          </a:p>
          <a:p xmlns:a="http://schemas.openxmlformats.org/drawingml/2006/main">
            <a:r>
              <a:t>证据：include/Digital.h::Part/Circuit/Simulator；src/Digital.cpp::flatten</a:t>
            </a:r>
          </a:p>
          <a:p xmlns:a="http://schemas.openxmlformats.org/drawingml/2006/main">
            <a:r>
              <a:t>操作：按本页证据解释，不逐字念屏幕。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7. 从结构约定，到可靠编辑 · 常人元 · 12秒</a:t>
            </a:r>
          </a:p>
          <a:p xmlns:a="http://schemas.openxmlformats.org/drawingml/2006/main">
            <a:r>
              <a:t>常人元：模型确定之后，用户的每一次操作都必须遵守这些约定。下面由闫浩楠介绍编辑与逻辑综合。</a:t>
            </a:r>
          </a:p>
          <a:p xmlns:a="http://schemas.openxmlformats.org/drawingml/2006/main">
            <a:r>
              <a:t>闫浩楠：我会用参数修改、接口布局和真值表生成，说明编辑结果怎样保持可恢复、可验证。</a:t>
            </a:r>
          </a:p>
          <a:p xmlns:a="http://schemas.openxmlformats.org/drawingml/2006/main">
            <a:r>
              <a:t>证据：四人板块交接</a:t>
            </a:r>
          </a:p>
          <a:p xmlns:a="http://schemas.openxmlformats.org/drawingml/2006/main">
            <a:r>
              <a:t>操作：按本页证据解释，不逐字念屏幕。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8. 保留熟悉三栏，让状态与入口更清楚 · 闫浩楠 · 24秒</a:t>
            </a:r>
          </a:p>
          <a:p xmlns:a="http://schemas.openxmlformats.org/drawingml/2006/main">
            <a:r>
              <a:t>界面保留原来的三栏布局，并允许调整宽度。左侧提供库和层次树，中间显示画布与实例路径，右侧是属性和诊断。</a:t>
            </a:r>
          </a:p>
          <a:p xmlns:a="http://schemas.openxmlformats.org/drawingml/2006/main">
            <a:r>
              <a:t>图片中的七条操作提示已经迁入帮助菜单的操作指南窗口，原位置移除，为库和画布留出空间。用户不需要重新学习一套布局，也能知道自己正在编辑定义还是观察某个实例。</a:t>
            </a:r>
          </a:p>
          <a:p xmlns:a="http://schemas.openxmlformats.org/drawingml/2006/main">
            <a:r>
              <a:t>证据：src/DigitalEditor.cpp；src/LogicEditorTools.cpp</a:t>
            </a:r>
          </a:p>
          <a:p xmlns:a="http://schemas.openxmlformats.org/drawingml/2006/main">
            <a:r>
              <a:t>操作：按本页证据解释，不逐字念屏幕。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9. 参数化元件，让一个符号承担一类能力 · 闫浩楠 · 51秒</a:t>
            </a:r>
          </a:p>
          <a:p xmlns:a="http://schemas.openxmlformats.org/drawingml/2006/main">
            <a:r>
              <a:t>参数化并不是只给属性表增加几行文字。输入数和选择位数会改变端口集合，位分组决定总线每一位的去向，朝向必须同时影响符号和连接命中位置。</a:t>
            </a:r>
          </a:p>
          <a:p xmlns:a="http://schemas.openxmlformats.org/drawingml/2006/main">
            <a:r>
              <a:t>属性修改走统一的事务入口，先修改候选模型，再验证端口和位宽，失败就恢复原工程。旧工程缺省参数沿用原行为。自定义元件的接口以内部 Input 和 Output 的 ID 为键，移动接口只改坐标，已有连线自动跟随。交互器件的运行操作与结构修改分别处理。</a:t>
            </a:r>
          </a:p>
          <a:p xmlns:a="http://schemas.openxmlformats.org/drawingml/2006/main">
            <a:r>
              <a:t>证据：src/Digital.cpp::ports/parameter/validate；src/LogicSymbols.cpp</a:t>
            </a:r>
          </a:p>
          <a:p xmlns:a="http://schemas.openxmlformats.org/drawingml/2006/main">
            <a:r>
              <a:t>操作：按本页证据解释，不逐字念屏幕。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10. 显式连接与事务回滚，保证可恢复编辑 · 闫浩楠 · 69秒</a:t>
            </a:r>
          </a:p>
          <a:p xmlns:a="http://schemas.openxmlformats.org/drawingml/2006/main">
            <a:r>
              <a:t>电路的连接是两个端点身份之间的关系。导线中间的折点只影响画法，交叉处不会因为看起来相交就自动连通。要创建分支，编辑器建立连接节点并拆分原线。</a:t>
            </a:r>
          </a:p>
          <a:p xmlns:a="http://schemas.openxmlformats.org/drawingml/2006/main">
            <a:r>
              <a:t>修改采用工程快照事务。成功时校验并提交，失败时恢复模型和当前电路。这个方案实现简单，也能覆盖自定义元件依赖；代价是大工程的快照复制成本。层次实例视图还加了一层结构保护，防止一次参数修改无意中复位正在观察的系统。需要修改定义时使用明确入口，暂停并复位整个根仿真后再编辑。</a:t>
            </a:r>
          </a:p>
          <a:p xmlns:a="http://schemas.openxmlformats.org/drawingml/2006/main">
            <a:r>
              <a:t>证据：include/LogicSupport.h::Endpoint/Wire；src/DigitalEditor.cpp::change/route</a:t>
            </a:r>
          </a:p>
          <a:p xmlns:a="http://schemas.openxmlformats.org/drawingml/2006/main">
            <a:r>
              <a:t>操作：按本页证据解释，不逐字念屏幕。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11. 从可编辑真值表，到等价门电路 · 闫浩楠 · 57秒</a:t>
            </a:r>
          </a:p>
          <a:p xmlns:a="http://schemas.openxmlformats.org/drawingml/2006/main">
            <a:r>
              <a:t>分析流程从可编辑真值表开始。输入必须完整且不能重复，输出可以包含设计不关心项。这个不关心项不等于运行电路的未知 X。</a:t>
            </a:r>
          </a:p>
          <a:p xmlns:a="http://schemas.openxmlformats.org/drawingml/2006/main">
            <a:r>
              <a:t>化简先合并可相邻的蕴含项，再选择覆盖所有确定为一的项。卡诺图按格雷码排列并显示圈组，四变量以上仍可计算表达式。综合生成独立电路，可以作为新组件导入。最后用新的仿真器遍历所有确定行，验证实际元件网络的输出。这样既检查布尔式，也检查了生成连线和元件类型。</a:t>
            </a:r>
          </a:p>
          <a:p xmlns:a="http://schemas.openxmlformats.org/drawingml/2006/main">
            <a:r>
              <a:t>证据：src/LogicAnalysis.cpp::minimizeOutput/karnaughReport/synthesize</a:t>
            </a:r>
          </a:p>
          <a:p xmlns:a="http://schemas.openxmlformats.org/drawingml/2006/main">
            <a:r>
              <a:t>操作：按本页证据解释，不逐字念屏幕。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12. 正确性与最小性，分别给出证据 · 闫浩楠 · 48秒</a:t>
            </a:r>
          </a:p>
          <a:p xmlns:a="http://schemas.openxmlformats.org/drawingml/2006/main">
            <a:r>
              <a:t>这里需要区分等价和最小。生成电路必须满足表中每一个确定输出，这是验收底线；最少项则需要额外的覆盖搜索证明。</a:t>
            </a:r>
          </a:p>
          <a:p xmlns:a="http://schemas.openxmlformats.org/drawingml/2006/main">
            <a:r>
              <a:t>搜索设置预算以避免界面被复杂函数长期阻塞，达到预算时会说明结果等价但未证明最少项。回归测试不是照抄化简公式，而是生成实际电路，再驱动输入、读取输出，包含全部二输入函数、随机四输入函数、常量与不关心项。同时验证导出的 CSV 可以重新导入，避免出现看似有文件功能却不能往返的问题。</a:t>
            </a:r>
          </a:p>
          <a:p xmlns:a="http://schemas.openxmlformats.org/drawingml/2006/main">
            <a:r>
              <a:t>证据：tests/analysis_tests.cpp；src/LogicAnalysis.cpp</a:t>
            </a:r>
          </a:p>
          <a:p xmlns:a="http://schemas.openxmlformats.org/drawingml/2006/main">
            <a:r>
              <a:t>操作：按本页证据解释，不逐字念屏幕。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13. 从静态电路，到随时间变化的状态 · 闫浩楠 · 12秒</a:t>
            </a:r>
          </a:p>
          <a:p xmlns:a="http://schemas.openxmlformats.org/drawingml/2006/main">
            <a:r>
              <a:t>闫浩楠：编辑和综合确定了电路结构，下面由杨曙启说明这些结构怎样运行。</a:t>
            </a:r>
          </a:p>
          <a:p xmlns:a="http://schemas.openxmlformats.org/drawingml/2006/main">
            <a:r>
              <a:t>杨曙启：我会重点展示同一时刻的事件语义，以及进入子电路后如何保留真实运行状态。</a:t>
            </a:r>
          </a:p>
          <a:p xmlns:a="http://schemas.openxmlformats.org/drawingml/2006/main">
            <a:r>
              <a:t>证据：四人板块交接</a:t>
            </a:r>
          </a:p>
          <a:p xmlns:a="http://schemas.openxmlformats.org/drawingml/2006/main">
            <a:r>
              <a:t>操作：按本页证据解释，不逐字念屏幕。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14. 同一时刻先求值，再统一发布变化 · 杨曙启 · 42秒</a:t>
            </a:r>
          </a:p>
          <a:p xmlns:a="http://schemas.openxmlformats.org/drawingml/2006/main">
            <a:r>
              <a:t>仿真先编译连接关系，运行时只处理发生变化的元件。同一个时刻的事件放在一个批次中，先读取旧网络求值，再统一发布输出。</a:t>
            </a:r>
          </a:p>
          <a:p xmlns:a="http://schemas.openxmlformats.org/drawingml/2006/main">
            <a:r>
              <a:t>这个顺序对寄存器级联非常重要。如果两个寄存器共用上升沿，后一级应该采到前一级的旧值，不能因为容器遍历顺序而看到刚更新的值。事件预算用于识别无法稳定的反馈，并给出振荡诊断。时间单位是离散逻辑步，程序没有宣称模拟真实芯片的纳秒传播参数。</a:t>
            </a:r>
          </a:p>
          <a:p xmlns:a="http://schemas.openxmlformats.org/drawingml/2006/main">
            <a:r>
              <a:t>证据：src/Digital.cpp::Simulator::Impl/step/settle；tests/digital_tests.cpp</a:t>
            </a:r>
          </a:p>
          <a:p xmlns:a="http://schemas.openxmlformats.org/drawingml/2006/main">
            <a:r>
              <a:t>操作：按本页证据解释，不逐字念屏幕。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15. 逐位信号与双向开关，保留电气含义 · 杨曙启 · 48秒</a:t>
            </a:r>
          </a:p>
          <a:p xmlns:a="http://schemas.openxmlformats.org/drawingml/2006/main">
            <a:r>
              <a:t>信号模型按位保存确定值、已知位、高阻和错误掩码，因此总线可以同时包含确定与不确定位。界面用不同颜色区分零、一、X、Z 和冲突 E。</a:t>
            </a:r>
          </a:p>
          <a:p xmlns:a="http://schemas.openxmlformats.org/drawingml/2006/main">
            <a:r>
              <a:t>晶体管和传输门也不能简单实现成单向复制。导通时两侧网络参与同一驱动解析，因此既支持正向，也支持反向传递。关闭时两侧隔离，弱上拉会被确定的强驱动覆盖。控制未知时采用保守结果。这里实现的是数字开关行为，适用于逻辑电路演示，没有模拟晶体管的连续电压和器件曲线。</a:t>
            </a:r>
          </a:p>
          <a:p xmlns:a="http://schemas.openxmlformats.org/drawingml/2006/main">
            <a:r>
              <a:t>证据：src/Digital.cpp::Signal/resolve/开关网络；tests/advanced_core_tests.cpp</a:t>
            </a:r>
          </a:p>
          <a:p xmlns:a="http://schemas.openxmlformats.org/drawingml/2006/main">
            <a:r>
              <a:t>操作：按本页证据解释，不逐字念屏幕。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16. 时钟、寄存器和存储，拥有各自的规则 · 杨曙启 · 39秒</a:t>
            </a:r>
          </a:p>
          <a:p xmlns:a="http://schemas.openxmlformats.org/drawingml/2006/main">
            <a:r>
              <a:t>时钟使用基础节拍计数，每个时钟有自己的高、低持续时间和相位。界面的毫秒播放间隔只是观察速度，不改变时钟之间的比例。</a:t>
            </a:r>
          </a:p>
          <a:p xmlns:a="http://schemas.openxmlformats.org/drawingml/2006/main">
            <a:r>
              <a:t>寄存器和计数器可以配置采样沿和控制参数。存储器根据地址位宽分配容量，最多六万五千五百三十六字，工程初值可以通过十六进制编辑器和文件管理。运行时查看的是指定实例的内存副本，查看和导航不会推进时钟，也不会修改初值。</a:t>
            </a:r>
          </a:p>
          <a:p xmlns:a="http://schemas.openxmlformats.org/drawingml/2006/main">
            <a:r>
              <a:t>证据：src/Digital.cpp::tick/evaluate/memory；src/LogicEditorTools.cpp::memoryEditor</a:t>
            </a:r>
          </a:p>
          <a:p xmlns:a="http://schemas.openxmlformats.org/drawingml/2006/main">
            <a:r>
              <a:t>操作：按本页证据解释，不逐字念屏幕。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17. 重点：进入真实实例，状态始终连续 · 杨曙启 · 78秒</a:t>
            </a:r>
          </a:p>
          <a:p xmlns:a="http://schemas.openxmlformats.org/drawingml/2006/main">
            <a:r>
              <a:t>这是本次重点。顶层有左、右两个实例，它们引用同一个嵌套模块，再引用同一个存储单元定义。左边数据是十六进制十二，右边是三十四，共用时钟。</a:t>
            </a:r>
          </a:p>
          <a:p xmlns:a="http://schemas.openxmlformats.org/drawingml/2006/main">
            <a:r>
              <a:t>推进一次写入后，进入左实例的内部，寄存器和 RAM 第零地址应为十二；返回顶层，再进入右实例，同一位置应为三十四。整个过程只是改变观察路径，不能重建仿真器，时间和节拍也不会归零。</a:t>
            </a:r>
          </a:p>
          <a:p xmlns:a="http://schemas.openxmlformats.org/drawingml/2006/main">
            <a:r>
              <a:t>自动回归直接检查仿真器对象身份、时间、节拍和两份内存。运行中与暂停时都测试导航，同时操作左实例内部按钮，确认右实例和工程定义不变。界面上的颜色和属性因此来自这个真实路径的运行网络。</a:t>
            </a:r>
          </a:p>
          <a:p xmlns:a="http://schemas.openxmlformats.org/drawingml/2006/main">
            <a:r>
              <a:t>证据：src/DigitalEditor.cpp::enterInstance/navigateTo/read/runSmoke；HIERARCHY-UI-PASS.txt</a:t>
            </a:r>
          </a:p>
          <a:p xmlns:a="http://schemas.openxmlformats.org/drawingml/2006/main">
            <a:r>
              <a:t>操作：指出真实实例路径和信号结果；现场操作见演示说明。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18. 观察、运行操作、修改定义，边界明确 · 杨曙启 · 42秒</a:t>
            </a:r>
          </a:p>
          <a:p xmlns:a="http://schemas.openxmlformats.org/drawingml/2006/main">
            <a:r>
              <a:t>实例视图允许观察和运行交互，但不允许悄悄修改共享结构。父层驱动的接口输入只读，内部按钮和键盘则按完整路径操作当前实例。运行 RAM 目前只读。</a:t>
            </a:r>
          </a:p>
          <a:p xmlns:a="http://schemas.openxmlformats.org/drawingml/2006/main">
            <a:r>
              <a:t>如果要改线路、参数或初始内容，点击编辑定义，程序明确暂停并复位整个根仿真。保存工程也遵循同一个边界：保存结构和初值，不能把运行中的某份 RAM 当成所有实例的共同初值。这些规则让答辩中每个操作的影响范围可以清楚解释。</a:t>
            </a:r>
          </a:p>
          <a:p xmlns:a="http://schemas.openxmlformats.org/drawingml/2006/main">
            <a:r>
              <a:t>证据：用户确认的A08行为；src/DigitalEditor.cpp；src/LogicEditorTools.cpp</a:t>
            </a:r>
          </a:p>
          <a:p xmlns:a="http://schemas.openxmlformats.org/drawingml/2006/main">
            <a:r>
              <a:t>操作：按本页证据解释，不逐字念屏幕。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19. 从运行结果，到可交换、可复核的证据 · 杨曙启 · 12秒</a:t>
            </a:r>
          </a:p>
          <a:p xmlns:a="http://schemas.openxmlformats.org/drawingml/2006/main">
            <a:r>
              <a:t>杨曙启：实例运行连续之后，还需要把结果交给其他软件和验证工具。下面由黄歆贻介绍交换与证据。</a:t>
            </a:r>
          </a:p>
          <a:p xmlns:a="http://schemas.openxmlformats.org/drawingml/2006/main">
            <a:r>
              <a:t>黄歆贻：我会说明哪些格式可以交换、怎样验证，以及当前支持边界。</a:t>
            </a:r>
          </a:p>
          <a:p xmlns:a="http://schemas.openxmlformats.org/drawingml/2006/main">
            <a:r>
              <a:t>证据：四人板块交接</a:t>
            </a:r>
          </a:p>
          <a:p xmlns:a="http://schemas.openxmlformats.org/drawingml/2006/main">
            <a:r>
              <a:t>操作：按本页证据解释，不逐字念屏幕。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20. .circ交换：用双方软件验证通用能力 · 黄歆贻 · 54秒</a:t>
            </a:r>
          </a:p>
          <a:p xmlns:a="http://schemas.openxmlformats.org/drawingml/2006/main">
            <a:r>
              <a:t>.circ 使用真正的 Logisim 二点七点一 XML，不是给工程 JSON 换扩展名。两套软件的符号几何不同，所以导出使用明确的端口几何和 Tunnel 网络，允许重排布局。</a:t>
            </a:r>
          </a:p>
          <a:p xmlns:a="http://schemas.openxmlformats.org/drawingml/2006/main">
            <a:r>
              <a:t>通用内置元件与多层子电路进入交换测试。逆序总线和 RAM 非零初值在必要时用标准元件包装，保持实际行为。无法无损表达的初态和特殊器件明确诊断。验证包括本程序往返、输出比较，以及本地 Logisim 实际加载和结果对照；文档逐项列出支持的属性，避免把常用兼容说成完整兼容。</a:t>
            </a:r>
          </a:p>
          <a:p xmlns:a="http://schemas.openxmlformats.org/drawingml/2006/main">
            <a:r>
              <a:t>证据：src/CircImport.cpp；src/CircExport.cpp；tests/circ_exchange_tests.cpp</a:t>
            </a:r>
          </a:p>
          <a:p xmlns:a="http://schemas.openxmlformats.org/drawingml/2006/main">
            <a:r>
              <a:t>操作：按本页证据解释，不逐字念屏幕。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21. PCB网表：从抽象端口走到实体引脚 · 黄歆贻 · 48秒</a:t>
            </a:r>
          </a:p>
          <a:p xmlns:a="http://schemas.openxmlformats.org/drawingml/2006/main">
            <a:r>
              <a:t>标准网表要求必须区分逻辑网络和实体 PCB。一个抽象八位寄存器端口不能直接当作某种封装的第几脚。</a:t>
            </a:r>
          </a:p>
          <a:p xmlns:a="http://schemas.openxmlformats.org/drawingml/2006/main">
            <a:r>
              <a:t>因此原来的逻辑网表继续用于连接核查，物理演示则限定受支持的组合逻辑，并显式补齐芯片、封装、引脚和电源映射。PCB 软件加载后核对元件、焊盘和网络。这个结果用于证明格式与连接可交换，尚未完成布线、规则校验和生产审查，不能据此宣称任意 RAM 或多层时序工程都可直接制板。</a:t>
            </a:r>
          </a:p>
          <a:p xmlns:a="http://schemas.openxmlformats.org/drawingml/2006/main">
            <a:r>
              <a:t>证据：docs/CUSTOM_COMPONENTS_NETLIST_CN.md；PCB交换示例与验证日志</a:t>
            </a:r>
          </a:p>
          <a:p xmlns:a="http://schemas.openxmlformats.org/drawingml/2006/main">
            <a:r>
              <a:t>操作：按本页证据解释，不逐字念屏幕。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22. 日志、诊断与输出，服务完整演示流程 · 黄歆贻 · 72秒</a:t>
            </a:r>
          </a:p>
          <a:p xmlns:a="http://schemas.openxmlformats.org/drawingml/2006/main">
            <a:r>
              <a:t>调试时既要看当前值，也要保留过程。信号监测按完整实例路径选择，CSV 持续接收事件并写盘，因此进入另一实例不会改变原先选定的监测对象。界面只保留近期事件，文件记录不受这个显示缓存限制。</a:t>
            </a:r>
          </a:p>
          <a:p xmlns:a="http://schemas.openxmlformats.org/drawingml/2006/main">
            <a:r>
              <a:t>诊断区给出错误、警告和提示，并能定位对象。常用操作可以从上下文菜单进入，最近文件和模板减少现场路径操作。导出支持按比例批量生成 PNG，也提供打印预览和打印。交付材料保留原网页的备注、计时和观众同步，同时提供可编辑 PPTX，两种版本来自同一份内容源。</a:t>
            </a:r>
          </a:p>
          <a:p xmlns:a="http://schemas.openxmlformats.org/drawingml/2006/main">
            <a:r>
              <a:t>证据：src/LogicEditorTools.cpp::monitorSignals/exportPictures/printCircuit；src/DigitalEditor.cpp</a:t>
            </a:r>
          </a:p>
          <a:p xmlns:a="http://schemas.openxmlformats.org/drawingml/2006/main">
            <a:r>
              <a:t>操作：按本页证据解释，不逐字念屏幕。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23. 验证结论，都能找到对应结果文件 · 黄歆贻 · 54秒</a:t>
            </a:r>
          </a:p>
          <a:p xmlns:a="http://schemas.openxmlformats.org/drawingml/2006/main">
            <a:r>
              <a:t>验证证据分三层。核心层运行独立 CTest，检查逻辑行为；GUI 层走真实窗口和画布路径，检查导航和编辑保护；外部交换层由实际软件读取产物。</a:t>
            </a:r>
          </a:p>
          <a:p xmlns:a="http://schemas.openxmlformats.org/drawingml/2006/main">
            <a:r>
              <a:t>日志与截图保存在 evidence 目录，测试报告标明日期、配置和命令。运行时检查数、测试目标数和连接对比组数是不同口径，不能随意相加，也不代表覆盖率。仅能证明已经测试的行为与样例，未测器件配置仍以兼容说明为准。</a:t>
            </a:r>
          </a:p>
          <a:p xmlns:a="http://schemas.openxmlformats.org/drawingml/2006/main">
            <a:r>
              <a:t>证据：docs/TEST_REPORT_CN.md；docs/defense/evidence</a:t>
            </a:r>
          </a:p>
          <a:p xmlns:a="http://schemas.openxmlformats.org/drawingml/2006/main">
            <a:r>
              <a:t>操作：按本页证据解释，不逐字念屏幕。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24. 现场演示：四个结果，串起核心能力 · 黄歆贻 · 33秒</a:t>
            </a:r>
          </a:p>
          <a:p xmlns:a="http://schemas.openxmlformats.org/drawingml/2006/main">
            <a:r>
              <a:t>现场按四步演示。先用半加器确认编辑与组合仿真，再打开层次模板推进写入，进入左右实例观察不同的寄存器和 RAM。第三步在多层路径中返回并操作内部按钮，说明状态连续与作用域。</a:t>
            </a:r>
          </a:p>
          <a:p xmlns:a="http://schemas.openxmlformats.org/drawingml/2006/main">
            <a:r>
              <a:t>最后展示真值表综合结果和文件交换证据。如果现场软件环境异常，使用同一版本的导出图与日志备份，不把备份截图当作现场运行。当前主要边界是数字逻辑模型、有限的格式映射和特定实体 PCB 示例。</a:t>
            </a:r>
          </a:p>
          <a:p xmlns:a="http://schemas.openxmlformats.org/drawingml/2006/main">
            <a:r>
              <a:t>证据：examples/half-adder.logic.json；examples/defense-hierarchy.logic.json；演示说明</a:t>
            </a:r>
          </a:p>
          <a:p xmlns:a="http://schemas.openxmlformats.org/drawingml/2006/main">
            <a:r>
              <a:t>操作：按本页证据解释，不逐字念屏幕。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25. 把每一项能力，落到可解释的结果 · 全体成员 · 36秒</a:t>
            </a:r>
          </a:p>
          <a:p xmlns:a="http://schemas.openxmlformats.org/drawingml/2006/main">
            <a:r>
              <a:t>常人元：统一模型与明确验收，让扩展有共同基础。</a:t>
            </a:r>
          </a:p>
          <a:p xmlns:a="http://schemas.openxmlformats.org/drawingml/2006/main">
            <a:r>
              <a:t>闫浩楠：可靠编辑与反向验证，让生成结果可恢复、可检查。</a:t>
            </a:r>
          </a:p>
          <a:p xmlns:a="http://schemas.openxmlformats.org/drawingml/2006/main">
            <a:r>
              <a:t>杨曙启：完整实例路径与连续状态，让层次调试可信。</a:t>
            </a:r>
          </a:p>
          <a:p xmlns:a="http://schemas.openxmlformats.org/drawingml/2006/main">
            <a:r>
              <a:t>黄歆贻：真实交换与证据边界，让交付结论可复核。以上是我们的展示，请各位老师提问。</a:t>
            </a:r>
          </a:p>
          <a:p xmlns:a="http://schemas.openxmlformats.org/drawingml/2006/main">
            <a:r>
              <a:t>证据：全组共同总结</a:t>
            </a:r>
          </a:p>
          <a:p xmlns:a="http://schemas.openxmlformats.org/drawingml/2006/main">
            <a:r>
              <a:t>操作：按本页证据解释，不逐字念屏幕。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92a49f0fa248a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aa4df3184643e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bc0dc9c377418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ebb0bb7c4b4b5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5e4ebe931c4b3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6604332b0b45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90275F-623A-4FA1-ADD4-88ED2E8086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092F40D-6408-42A0-B58B-2CED1ED785A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ADF2AEA-C987-4AB9-AD44-33ADE74165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AD0854-A328-4CE0-8644-2C95CA52E6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9720089-61D1-40BF-8FAE-6598EFBA81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76F592D-001C-4326-A0C5-E42A2DD298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E4BA8D4-0223-4AD4-91F1-A1205108FE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2275A64-64A7-4677-B371-82E64604165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3E19B2-E74D-4976-9027-A96F1BEA0A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6BE07C-7764-4612-AB90-83043E2B9D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0bf30b3ff04618" /><Relationship Type="http://schemas.openxmlformats.org/officeDocument/2006/relationships/slideLayout" Target="/ppt/slideLayouts/slideLayout1.xml" Id="R4fcafe9ab1124daf" /><Relationship Type="http://schemas.openxmlformats.org/officeDocument/2006/relationships/slideLayout" Target="/ppt/slideLayouts/slideLayout2.xml" Id="Raf6267881c894c9a" /><Relationship Type="http://schemas.openxmlformats.org/officeDocument/2006/relationships/slideLayout" Target="/ppt/slideLayouts/slideLayout3.xml" Id="Ra941c6d43be34ee6" /><Relationship Type="http://schemas.openxmlformats.org/officeDocument/2006/relationships/slideLayout" Target="/ppt/slideLayouts/slideLayout4.xml" Id="R09a13758d9ac436d" /><Relationship Type="http://schemas.openxmlformats.org/officeDocument/2006/relationships/slideLayout" Target="/ppt/slideLayouts/slideLayout5.xml" Id="R15b0e35498984b55" /><Relationship Type="http://schemas.openxmlformats.org/officeDocument/2006/relationships/slideLayout" Target="/ppt/slideLayouts/slideLayout6.xml" Id="R5692dd1ef83a46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cafe9ab1124daf"/>
    <p:sldLayoutId xmlns:r="http://schemas.openxmlformats.org/officeDocument/2006/relationships" id="2147483650" r:id="Raf6267881c894c9a"/>
    <p:sldLayoutId xmlns:r="http://schemas.openxmlformats.org/officeDocument/2006/relationships" id="2147483651" r:id="Ra941c6d43be34ee6"/>
    <p:sldLayoutId xmlns:r="http://schemas.openxmlformats.org/officeDocument/2006/relationships" id="2147483652" r:id="R09a13758d9ac436d"/>
    <p:sldLayoutId xmlns:r="http://schemas.openxmlformats.org/officeDocument/2006/relationships" id="2147483653" r:id="R15b0e35498984b55"/>
    <p:sldLayoutId xmlns:r="http://schemas.openxmlformats.org/officeDocument/2006/relationships" id="2147483654" r:id="R5692dd1ef83a46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d8b0d8996244da" /><Relationship Type="http://schemas.openxmlformats.org/officeDocument/2006/relationships/notesSlide" Target="/ppt/notesSlides/notesSlide1.xml" Id="Rdc1c33e1601841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71b9cc94b540c3" /><Relationship Type="http://schemas.openxmlformats.org/officeDocument/2006/relationships/notesSlide" Target="/ppt/notesSlides/notesSlide2.xml" Id="Ra204f060f6fc4e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ccb7afb7794e27" /><Relationship Type="http://schemas.openxmlformats.org/officeDocument/2006/relationships/notesSlide" Target="/ppt/notesSlides/notesSlide3.xml" Id="Rd77b8a35301047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e8f8669a74404d" /><Relationship Type="http://schemas.openxmlformats.org/officeDocument/2006/relationships/notesSlide" Target="/ppt/notesSlides/notesSlide4.xml" Id="Rb392b5ae301e42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f189fbd49641ed" /><Relationship Type="http://schemas.openxmlformats.org/officeDocument/2006/relationships/notesSlide" Target="/ppt/notesSlides/notesSlide5.xml" Id="Raad299bcd21e49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20cfc05d084fc2" /><Relationship Type="http://schemas.openxmlformats.org/officeDocument/2006/relationships/notesSlide" Target="/ppt/notesSlides/notesSlide6.xml" Id="R14d4da2a240343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d80964aec444d9" /><Relationship Type="http://schemas.openxmlformats.org/officeDocument/2006/relationships/notesSlide" Target="/ppt/notesSlides/notesSlide7.xml" Id="R42462f52d3154f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c025f25fa549a1" /><Relationship Type="http://schemas.openxmlformats.org/officeDocument/2006/relationships/notesSlide" Target="/ppt/notesSlides/notesSlide8.xml" Id="Rcd7cfead20b84f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f2788c6c944862" /><Relationship Type="http://schemas.openxmlformats.org/officeDocument/2006/relationships/notesSlide" Target="/ppt/notesSlides/notesSlide9.xml" Id="Rd837a1e25a2540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25be8d11b04a2c" /><Relationship Type="http://schemas.openxmlformats.org/officeDocument/2006/relationships/notesSlide" Target="/ppt/notesSlides/notesSlide10.xml" Id="Rd26e74a298b04b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b9bbe20bef4250" /><Relationship Type="http://schemas.openxmlformats.org/officeDocument/2006/relationships/notesSlide" Target="/ppt/notesSlides/notesSlide11.xml" Id="R511d6d3e38574e9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2ffa15cc4749e6" /><Relationship Type="http://schemas.openxmlformats.org/officeDocument/2006/relationships/notesSlide" Target="/ppt/notesSlides/notesSlide12.xml" Id="R7c9b4b77770f4ba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e4045373164475" /><Relationship Type="http://schemas.openxmlformats.org/officeDocument/2006/relationships/notesSlide" Target="/ppt/notesSlides/notesSlide13.xml" Id="Rc0d43d397bf3420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27c559809c4a62" /><Relationship Type="http://schemas.openxmlformats.org/officeDocument/2006/relationships/notesSlide" Target="/ppt/notesSlides/notesSlide14.xml" Id="Rcdf57964e9554fa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be8673a14340e4" /><Relationship Type="http://schemas.openxmlformats.org/officeDocument/2006/relationships/notesSlide" Target="/ppt/notesSlides/notesSlide15.xml" Id="Rf8f9fbfb0e9a4d0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f29ef8e2ad4db2" /><Relationship Type="http://schemas.openxmlformats.org/officeDocument/2006/relationships/notesSlide" Target="/ppt/notesSlides/notesSlide16.xml" Id="R720db70a41f04cb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69930174c34e0c" /><Relationship Type="http://schemas.openxmlformats.org/officeDocument/2006/relationships/image" Target="/ppt/media/image.png" Id="R914be8a25b1e4ab6" /><Relationship Type="http://schemas.openxmlformats.org/officeDocument/2006/relationships/notesSlide" Target="/ppt/notesSlides/notesSlide17.xml" Id="R7181da1ca10f4e9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4e4f86af864c7a" /><Relationship Type="http://schemas.openxmlformats.org/officeDocument/2006/relationships/notesSlide" Target="/ppt/notesSlides/notesSlide18.xml" Id="R0272e27c68c649f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d78b4695244e3f" /><Relationship Type="http://schemas.openxmlformats.org/officeDocument/2006/relationships/notesSlide" Target="/ppt/notesSlides/notesSlide19.xml" Id="Rd8ff9536d48240f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f094987f244e63" /><Relationship Type="http://schemas.openxmlformats.org/officeDocument/2006/relationships/notesSlide" Target="/ppt/notesSlides/notesSlide20.xml" Id="Read76637016e4b7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b03ea543954e8c" /><Relationship Type="http://schemas.openxmlformats.org/officeDocument/2006/relationships/notesSlide" Target="/ppt/notesSlides/notesSlide21.xml" Id="R710c3501532848d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56437dd76a4271" /><Relationship Type="http://schemas.openxmlformats.org/officeDocument/2006/relationships/notesSlide" Target="/ppt/notesSlides/notesSlide22.xml" Id="Rf9519abc5ddb4b3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b2617033b84d4b" /><Relationship Type="http://schemas.openxmlformats.org/officeDocument/2006/relationships/notesSlide" Target="/ppt/notesSlides/notesSlide23.xml" Id="R318d0e2f29e0455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7bceb2d89a420b" /><Relationship Type="http://schemas.openxmlformats.org/officeDocument/2006/relationships/notesSlide" Target="/ppt/notesSlides/notesSlide24.xml" Id="R3f4c5c103661493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54b52e3ace4507" /><Relationship Type="http://schemas.openxmlformats.org/officeDocument/2006/relationships/notesSlide" Target="/ppt/notesSlides/notesSlide25.xml" Id="R16a70d5140cc4c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8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8EC9CE-EE68-4402-BAB3-70B8386E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rPr>
              <a:t>PRACTICE EDA · 常人元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E222E-CB7D-451E-ADC5-9ED578E8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DF02C5-4627-48B2-8D41-A2A02746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PracticeEDA：可编辑、可运行、可追踪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88826A-1CD6-4CE5-B07A-BBFE8752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rPr>
              <a:t>数字逻辑 EDA · C++17 / wxWidgets · 课程综合项目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CD0828-D1C9-4BF4-9D8D-161A1598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3505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65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D1A21-7107-4AA6-B9FE-B156F948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312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编辑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04623-2A5D-4F11-8BCF-BDB75795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312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rPr>
              <a:t>参数化元件与稳定连接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5B2D62-D91D-4EBA-88ED-536C6E08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86200"/>
            <a:ext cx="3505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65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0846C5-51A5-4922-9C0E-25D137B6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14800"/>
            <a:ext cx="312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3B54A2-52EE-40DE-894D-C0231FBD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762500"/>
            <a:ext cx="312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rPr>
              <a:t>事件驱动与独立实例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609827-8236-416F-BC7C-24C612EE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86200"/>
            <a:ext cx="3505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65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2FE808-1A31-446C-B29C-586D9E6E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14800"/>
            <a:ext cx="312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86642E-F4AD-4B29-A781-AAF87E8E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62500"/>
            <a:ext cx="312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rPr>
              <a:t>综合、交换与可复核证据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97906C-4CFA-4BDB-9772-23DC4DFC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rPr>
              <a:t>CMakeLists.txt；docs/OPTIMIZATION_ACCEPTANCE_CN.md</a:t>
            </a:r>
          </a:p>
        </p:txBody>
      </p:sp>
    </p:spTree>
    <p:extLst>
      <p:ext uri="{BB962C8B-B14F-4D97-AF65-F5344CB8AC3E}">
        <p14:creationId xmlns:p14="http://schemas.microsoft.com/office/powerpoint/2010/main" val="9624372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5822BC-7E8C-4D33-836B-C385A3F4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PRACTICE EDA · 常人元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48FB12-A0D2-4447-9CC9-972F0EBF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A7695-B496-41BE-85B4-87B5F0D5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四位成员，一条完整技术链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CD9589-60EF-4DB0-9684-C1A8F270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2571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535DA-9D43-4004-A196-5936A466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257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A3FFC-9DF8-4C67-B144-9C0F6928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90775"/>
            <a:ext cx="2228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常人元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FFA75-9493-4A7C-854F-1B32D3A1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48025"/>
            <a:ext cx="22288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项目目标、架构与验收映射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D5EFFE-C4AC-4ED9-AF6C-F5156240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43125"/>
            <a:ext cx="2571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83973-30A6-44B5-9401-8E7078B3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43125"/>
            <a:ext cx="257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086618-152D-4348-8B34-CF7D37EB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90775"/>
            <a:ext cx="2228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闫浩楠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C1D685-53D6-45ED-B7E9-A0335D60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48025"/>
            <a:ext cx="22288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交互、参数编辑与逻辑综合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82660D-BE6E-40A4-80A5-19B57231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43125"/>
            <a:ext cx="2571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E167B4-E8DB-4169-BCF9-DE03AA84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43125"/>
            <a:ext cx="257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7775D4-9CAF-4D50-A972-2B197B25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90775"/>
            <a:ext cx="2228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杨曙启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8F82C6-842F-4CDE-8B7D-9D75F822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48025"/>
            <a:ext cx="22288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仿真、时序与实例实时调试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7ECA3E-8497-43D5-80FB-E983DA08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43125"/>
            <a:ext cx="2571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51D4AF-6B1B-4FDF-A5A1-5966CA26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43125"/>
            <a:ext cx="257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28718B-A45C-4F23-935F-B4F720E6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90775"/>
            <a:ext cx="2228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黄歆贻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C2E39B-76E9-44EB-BE12-2D5A496A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48025"/>
            <a:ext cx="22288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组件交换、网表与验证证据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9B2FF7-C3AC-47A9-B639-180860DE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用户确认的四人名单与十八分钟安排</a:t>
            </a:r>
          </a:p>
        </p:txBody>
      </p:sp>
    </p:spTree>
    <p:extLst>
      <p:ext uri="{BB962C8B-B14F-4D97-AF65-F5344CB8AC3E}">
        <p14:creationId xmlns:p14="http://schemas.microsoft.com/office/powerpoint/2010/main" val="10669973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1DF56-D3CD-469C-B948-FD8E9018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PRACTICE EDA · 常人元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AF13F-595E-4F08-B1D0-1479E8EF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89468-7602-4818-9212-03146DC5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把课程要求变成可演示的验收项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5185A9-3C87-4238-916A-919ADAA9C631}"/>
              </a:ext>
            </a:extLst>
          </p:cNvPr>
          <p:cNvGraphicFramePr/>
          <p:nvPr/>
        </p:nvGraphicFramePr>
        <p:xfrm>
          <a:off xmlns:a="http://schemas.openxmlformats.org/drawingml/2006/main" x="609600" y="2238375"/>
          <a:ext xmlns:a="http://schemas.openxmlformats.org/drawingml/2006/main" cx="109728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191000"/>
                <a:gridCol w="4305300"/>
              </a:tblGrid>
              <a:tr h="6096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任务要求</a:t>
                      </a:r>
                    </a:p>
                  </a:txBody>
                  <a:tcPr marL="91440" marR="91440" marT="45720" marB="45720">
                    <a:solidFill>
                      <a:srgbClr val="234C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程序入口</a:t>
                      </a:r>
                    </a:p>
                  </a:txBody>
                  <a:tcPr marL="91440" marR="91440" marT="45720" marB="45720">
                    <a:solidFill>
                      <a:srgbClr val="234C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验收方式</a:t>
                      </a:r>
                    </a:p>
                  </a:txBody>
                  <a:tcPr marL="91440" marR="91440" marT="45720" marB="45720">
                    <a:solidFill>
                      <a:srgbClr val="234CC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绘制、编辑与自定义组件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工具库 / 属性 / 外观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半加器与接口拖动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实时逻辑仿真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 / 节拍 / 层次树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寄存器、计数器、RAM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文件和标准网表交换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 / .circ / 网表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往返比较与PCB加载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方案、分工与论证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源码说明 / 演示材料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结果、取舍、限制可追溯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39E60D-1300-43AA-A0AE-9ED71C74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进阶式挑战性综合项目I课题任务书；工业软件创新训练I任务描述；验收清单</a:t>
            </a:r>
          </a:p>
        </p:txBody>
      </p:sp>
    </p:spTree>
    <p:extLst>
      <p:ext uri="{BB962C8B-B14F-4D97-AF65-F5344CB8AC3E}">
        <p14:creationId xmlns:p14="http://schemas.microsoft.com/office/powerpoint/2010/main" val="5235284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85B69A-B461-4D90-805A-65D48C74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PRACTICE EDA · 常人元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25A49-EF90-4716-9CD0-B73B0FB0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1B167E-701F-4EA2-8BD7-33EBA92E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延续现有架构，把投入用在功能语义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C6C2E5-91AB-4411-AFC7-55FFFF03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505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5F697-D2E6-4104-AB14-557B7917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70E85-736F-4730-807B-24792453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90775"/>
            <a:ext cx="316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wxWidgets 桌面界面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6815E7-0E08-4525-9E76-AF0841B3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48025"/>
            <a:ext cx="31623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沿用已有窗口、事件与构建环境；三栏可调宽度，层次路径更清楚。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7AB00A-2B5E-4D7B-B3E6-055627E9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43125"/>
            <a:ext cx="3505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8CD1CC-0069-4177-A7A9-2A5C504A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43125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1E68AA-EEE5-461D-9E13-20FC3D32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90775"/>
            <a:ext cx="316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独立 C++ 仿真核心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15C032-F3CD-4C72-995C-65432777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48025"/>
            <a:ext cx="31623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模型、网络和事件队列不依赖窗口；可在无GUI环境运行回归。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14170D-1A1A-4422-9599-13DD3326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43125"/>
            <a:ext cx="3505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937090-FF12-4377-AD67-45A1ACD3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43125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B59084-8A68-45B5-B7D5-5BC78061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90775"/>
            <a:ext cx="316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明确文件交换边界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1A9A1-1C31-40B4-9440-2B0797A5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48025"/>
            <a:ext cx="31623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工程JSON保留原生参数；.circ转换通用能力；PCB示例补齐实体映射。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6A8FB8-67D4-4DEE-972D-E4A5E8FA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include/Digital.h；src/Digital.cpp；src/DigitalEditor.cpp</a:t>
            </a:r>
          </a:p>
        </p:txBody>
      </p:sp>
    </p:spTree>
    <p:extLst>
      <p:ext uri="{BB962C8B-B14F-4D97-AF65-F5344CB8AC3E}">
        <p14:creationId xmlns:p14="http://schemas.microsoft.com/office/powerpoint/2010/main" val="1008123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5D6555-87DA-4BCC-A2DA-86FD0E23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PRACTICE EDA · 常人元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F9E24-4841-4B29-9F96-6B8F407E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5CB7B0-77F8-4943-ABCC-E602D53E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A01—A18：围绕四条能力链完善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418F5-1A1E-4865-8CAF-381B72937CCD}"/>
              </a:ext>
            </a:extLst>
          </p:cNvPr>
          <p:cNvGraphicFramePr/>
          <p:nvPr/>
        </p:nvGraphicFramePr>
        <p:xfrm>
          <a:off xmlns:a="http://schemas.openxmlformats.org/drawingml/2006/main" x="609600" y="2238375"/>
          <a:ext xmlns:a="http://schemas.openxmlformats.org/drawingml/2006/main" cx="109728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191000"/>
                <a:gridCol w="4305300"/>
              </a:tblGrid>
              <a:tr h="6096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能力链</a:t>
                      </a:r>
                    </a:p>
                  </a:txBody>
                  <a:tcPr marL="91440" marR="91440" marT="45720" marB="45720">
                    <a:solidFill>
                      <a:srgbClr val="234C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本轮内容</a:t>
                      </a:r>
                    </a:p>
                  </a:txBody>
                  <a:tcPr marL="91440" marR="91440" marT="45720" marB="45720">
                    <a:solidFill>
                      <a:srgbClr val="234C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关键演示</a:t>
                      </a:r>
                    </a:p>
                  </a:txBody>
                  <a:tcPr marL="91440" marR="91440" marT="45720" marB="45720">
                    <a:solidFill>
                      <a:srgbClr val="234CC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编辑与复用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旋转、参数、总线映射、自定义引脚、菜单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输入反相与接口移动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时序与实例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独立时钟、边沿、计数器、RAM、层次调试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两实例写入12/34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分析与交互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化简、卡诺图、综合、键盘TTY、双向开关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真值表生成电路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工程与输出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.circ、持续日志、模板、打印、上下文菜单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文件交换和证据链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4F34E-434E-4192-8849-C44C2BBE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docs/OPTIMIZATION_ACCEPTANCE_CN.md；include/LogicAnalysis.h</a:t>
            </a:r>
          </a:p>
        </p:txBody>
      </p:sp>
    </p:spTree>
    <p:extLst>
      <p:ext uri="{BB962C8B-B14F-4D97-AF65-F5344CB8AC3E}">
        <p14:creationId xmlns:p14="http://schemas.microsoft.com/office/powerpoint/2010/main" val="2295580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30F873-CF22-4A51-90F8-867B7554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PRACTICE EDA · 常人元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39287-4580-4806-846C-285BABA9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9663D4-26CE-466C-992A-73304C99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定义保存结构，实例保存运行状态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A773DA-0254-4779-BF85-794845AD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715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43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73F56-B45D-4070-A8F1-AC1C3A91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53721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E2EC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E2E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2ECFF"/>
                </a:solidFill>
                <a:latin typeface="Microsoft YaHei"/>
                <a:ea typeface="Microsoft YaHei"/>
                <a:cs typeface="Microsoft YaHei"/>
              </a:rPr>
              <a:t>    std::string id, kind = "And", label, circuit;</a:t>
            </a:r>
          </a:p>
          <a:p xmlns:a="http://schemas.openxmlformats.org/drawingml/2006/main">
            <a:pPr>
              <a:defRPr sz="1350" b="0">
                <a:solidFill>
                  <a:srgbClr val="E2E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2ECFF"/>
                </a:solidFill>
                <a:latin typeface="Microsoft YaHei"/>
                <a:ea typeface="Microsoft YaHei"/>
                <a:cs typeface="Microsoft YaHei"/>
              </a:rPr>
              <a:t>    Point at;</a:t>
            </a:r>
          </a:p>
          <a:p xmlns:a="http://schemas.openxmlformats.org/drawingml/2006/main">
            <a:pPr>
              <a:defRPr sz="1350" b="0">
                <a:solidFill>
                  <a:srgbClr val="E2E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2ECFF"/>
                </a:solidFill>
                <a:latin typeface="Microsoft YaHei"/>
                <a:ea typeface="Microsoft YaHei"/>
                <a:cs typeface="Microsoft YaHei"/>
              </a:rPr>
              <a:t>    int width = 1;</a:t>
            </a:r>
          </a:p>
          <a:p xmlns:a="http://schemas.openxmlformats.org/drawingml/2006/main">
            <a:pPr>
              <a:defRPr sz="1350" b="0">
                <a:solidFill>
                  <a:srgbClr val="E2E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2ECFF"/>
                </a:solidFill>
                <a:latin typeface="Microsoft YaHei"/>
                <a:ea typeface="Microsoft YaHei"/>
                <a:cs typeface="Microsoft YaHei"/>
              </a:rPr>
              <a:t>    uint32_t value = 0;</a:t>
            </a:r>
          </a:p>
          <a:p xmlns:a="http://schemas.openxmlformats.org/drawingml/2006/main">
            <a:pPr>
              <a:defRPr sz="1350" b="0">
                <a:solidFill>
                  <a:srgbClr val="E2E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2ECFF"/>
                </a:solidFill>
                <a:latin typeface="Microsoft YaHei"/>
                <a:ea typeface="Microsoft YaHei"/>
                <a:cs typeface="Microsoft YaHei"/>
              </a:rPr>
              <a:t>    std::vector&lt;uint32_t&gt; data;</a:t>
            </a:r>
          </a:p>
          <a:p xmlns:a="http://schemas.openxmlformats.org/drawingml/2006/main">
            <a:pPr>
              <a:defRPr sz="1350" b="0">
                <a:solidFill>
                  <a:srgbClr val="E2E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2ECFF"/>
                </a:solidFill>
                <a:latin typeface="Microsoft YaHei"/>
                <a:ea typeface="Microsoft YaHei"/>
                <a:cs typeface="Microsoft YaHei"/>
              </a:rPr>
              <a:t>    // rotation 使用 0/1/2/3 表示顺时针 0/90/180/270 度；只影响几何，不改变端口 ID。</a:t>
            </a:r>
          </a:p>
          <a:p xmlns:a="http://schemas.openxmlformats.org/drawingml/2006/main">
            <a:pPr>
              <a:defRPr sz="1350" b="0">
                <a:solidFill>
                  <a:srgbClr val="E2E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2ECFF"/>
                </a:solidFill>
                <a:latin typeface="Microsoft YaHei"/>
                <a:ea typeface="Microsoft YaHei"/>
                <a:cs typeface="Microsoft YaHei"/>
              </a:rPr>
              <a:t>    int rotation = 0;</a:t>
            </a:r>
          </a:p>
          <a:p xmlns:a="http://schemas.openxmlformats.org/drawingml/2006/main">
            <a:pPr>
              <a:defRPr sz="1350" b="0">
                <a:solidFill>
                  <a:srgbClr val="E2E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2ECFF"/>
                </a:solidFill>
                <a:latin typeface="Microsoft YaHei"/>
                <a:ea typeface="Microsoft YaHei"/>
                <a:cs typeface="Microsoft YaHei"/>
              </a:rPr>
              <a:t>    // 可选整数参数向后兼容旧 v1 工程；缺省值由 parameter() 的调用方明确给出。</a:t>
            </a:r>
          </a:p>
          <a:p xmlns:a="http://schemas.openxmlformats.org/drawingml/2006/main">
            <a:pPr>
              <a:defRPr sz="1350" b="0">
                <a:solidFill>
                  <a:srgbClr val="E2EC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2ECFF"/>
                </a:solidFill>
                <a:latin typeface="Microsoft YaHei"/>
                <a:ea typeface="Microsoft YaHei"/>
                <a:cs typeface="Microsoft YaHei"/>
              </a:rPr>
              <a:t>    std::map&lt;std::string, int64_t&gt; params{};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998D1-9183-4084-B107-D07237AD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稳定身份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678F5E-EF41-4B68-ABC0-0DD67169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52700"/>
            <a:ext cx="468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Part.id / Port.id 决定连接；label 只负责显示。旋转和移动不改变端口身份。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C332BE-C9EB-451F-9FAA-FE38E352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86125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工程初值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D488C7-7EE0-4E1B-B70F-A526EED9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86175"/>
            <a:ext cx="468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value / data / params / interfaceLayout 可保存、撤销、复用。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9DFAD1-60CC-4F4E-B73C-E65914CF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1960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实例状态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78734B-AB5A-4BF1-98FB-482DF0C6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19650"/>
            <a:ext cx="468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展开路径分别保存寄存器、RAM、按钮和字符队列，导航不重建仿真器。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A092CD-7BCA-46DB-A4D7-50660BAA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include/Digital.h::Part/Circuit/Simulator；src/Digital.cpp::flatten</a:t>
            </a:r>
          </a:p>
        </p:txBody>
      </p:sp>
    </p:spTree>
    <p:extLst>
      <p:ext uri="{BB962C8B-B14F-4D97-AF65-F5344CB8AC3E}">
        <p14:creationId xmlns:p14="http://schemas.microsoft.com/office/powerpoint/2010/main" val="15763941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28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847843-D721-46F9-9242-13B512DA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rPr>
              <a:t>PRACTICE EDA · 常人元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781EEE-4E11-4A92-91A8-18C4C353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104CA6-555C-4F49-A456-363596CA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从结构约定，到可靠编辑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6142A7-7314-4672-A1BF-63A235AD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53721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65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76F55-4CED-41D7-A7F8-8D3B1A3D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499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已说明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8FB1CA-FDDE-4573-8FE6-7192395C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4991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rPr>
              <a:t>模型、端口与实例边界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6732C-62F9-4ED4-9269-D7F73CE5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86200"/>
            <a:ext cx="53721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65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1623CB-06F3-4731-AE6E-0747DD8F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14800"/>
            <a:ext cx="499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接下来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59C960-C23B-4FCE-BCBB-3BDE9762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62500"/>
            <a:ext cx="4991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rPr>
              <a:t>交互、参数和逻辑综合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AD6A81-2DC4-4877-9A02-CDD339DE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rPr>
              <a:t>四人板块交接</a:t>
            </a:r>
          </a:p>
        </p:txBody>
      </p:sp>
    </p:spTree>
    <p:extLst>
      <p:ext uri="{BB962C8B-B14F-4D97-AF65-F5344CB8AC3E}">
        <p14:creationId xmlns:p14="http://schemas.microsoft.com/office/powerpoint/2010/main" val="13712821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1F64D3-B0E4-4A98-B2C4-4550038F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PRACTICE EDA · 闫浩楠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337A0-0B81-4B07-BF97-2BB5B058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B6B49-F194-4C80-9977-27BB53B2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保留熟悉三栏，让状态与入口更清楚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A0EEE-0933-4930-AC4D-6D834DE7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505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942F83-C238-4297-BFAD-ED98CEBB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F4C67-53FC-4944-BF96-C7E6E5A9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90775"/>
            <a:ext cx="316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熟悉的三栏布局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BE01CC-AC45-4AE8-A59E-202DA962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48025"/>
            <a:ext cx="31623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左侧元件库与层次树，中间画布和路径，右侧属性与诊断；分隔栏可调宽。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01ACE-1A61-4DD4-BA07-B54D9F19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43125"/>
            <a:ext cx="3505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2FFA0-7AD7-4CC4-98EE-A002896C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43125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67745-9AA2-4D40-9CB7-B41BE370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90775"/>
            <a:ext cx="316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帮助 → 操作指南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C7528-BAEF-4D16-A6C3-8D7CA27F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48025"/>
            <a:ext cx="31623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原常驻操作提示迁入说明窗口；支持随时查阅。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0D8816-9C6A-40C5-A673-8AFE381F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43125"/>
            <a:ext cx="3505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6E60CA-61C1-4C54-91BC-C2D05116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43125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D5B5E7-1D0E-4892-981B-BE8ED997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90775"/>
            <a:ext cx="316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定义 / 实例状态可见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3F7601-996F-48E6-88DB-E4A34BCB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48025"/>
            <a:ext cx="31623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路径、只读提示、运行状态和编辑定义入口集中展示。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594472-0503-4D5E-A43C-4D83035E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src/DigitalEditor.cpp；src/LogicEditorTools.cpp</a:t>
            </a:r>
          </a:p>
        </p:txBody>
      </p:sp>
    </p:spTree>
    <p:extLst>
      <p:ext uri="{BB962C8B-B14F-4D97-AF65-F5344CB8AC3E}">
        <p14:creationId xmlns:p14="http://schemas.microsoft.com/office/powerpoint/2010/main" val="15659880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005369-BCD1-4DFB-A612-03637D72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PRACTICE EDA · 闫浩楠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05C85-6837-4BDA-98AF-F87CBC39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E3CF3C-30F0-4197-8F5D-2FC3E6EF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参数化元件，让一个符号承担一类能力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C0F37-D1E9-4F1D-BBA4-A95717DD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505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0AE40-6D48-42AF-95B8-119C6C7C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56A48D-2BA0-40A4-86F7-B54A7154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90775"/>
            <a:ext cx="316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门与选择器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63B74-F48B-44A2-9CA8-0CCD3055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48025"/>
            <a:ext cx="31623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2—32输入、逐输入反相、选择位数、译码与优先编码；端口随参数生成。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3EDA7F-4565-4C0B-9F55-A7AD3FAD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43125"/>
            <a:ext cx="3505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EC883A-18A9-4C8B-BCBB-3AE75085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43125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6544BA-BC28-4502-8925-24E5E1E8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90775"/>
            <a:ext cx="316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总线与朝向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AADE3E-8B92-49CC-ACCB-C7D74B39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48025"/>
            <a:ext cx="31623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任意位分组、逆序映射、符号/零扩展；四个方向共用端点计算。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09EE1E-CE4F-4D82-8893-C12E6F12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43125"/>
            <a:ext cx="3505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8F721-ECC2-444B-A5CD-6DB35BA6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43125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A9F15F-9324-4127-AB28-6DAF0BDF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90775"/>
            <a:ext cx="316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交互与外观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A1718D-4C50-4F73-AD87-29DE45D4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48025"/>
            <a:ext cx="31623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按钮模式、Keyboard/TTY/Joystick、显示器件；接口坐标表与画布拖动。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54F108-5D34-46E1-9D4D-DB306CB6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src/Digital.cpp::ports/parameter/validate；src/LogicSymbols.cpp</a:t>
            </a:r>
          </a:p>
        </p:txBody>
      </p:sp>
    </p:spTree>
    <p:extLst>
      <p:ext uri="{BB962C8B-B14F-4D97-AF65-F5344CB8AC3E}">
        <p14:creationId xmlns:p14="http://schemas.microsoft.com/office/powerpoint/2010/main" val="619822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383980-A44D-43C1-862A-05C73FF2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PRACTICE EDA · 闫浩楠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1BAC4-BA3C-41E2-B4E4-DCF7D489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E40961-09CC-477B-8603-F6891901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显式连接与事务回滚，保证可恢复编辑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FBF3A-25B9-4170-9971-FD04F5E5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505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AA586-9A91-4138-A1C4-65FACC61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E8908-6240-45AC-8463-AA38724F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90775"/>
            <a:ext cx="316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连接依据身份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98238-A1F5-49F2-BACF-032BA5D9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48025"/>
            <a:ext cx="31623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Wire两端引用object/pin；纯几何交叉不自动短接。分支必须创建Junction。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05C417-4698-4E41-A147-967BB159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43125"/>
            <a:ext cx="3505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0D6E46-8244-4994-80D3-0923B30C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43125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821476-FFC9-48C2-B1A4-A6401441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90775"/>
            <a:ext cx="316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编辑先验证再提交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FAFFAB-2077-43AE-BCD9-C2907A1E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48025"/>
            <a:ext cx="31623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完整工程快照保留共享定义；成功进入撤销栈，异常恢复旧工程。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CE718-B634-499D-81BA-8B990E38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43125"/>
            <a:ext cx="3505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3E854E-361D-46B5-BAD9-42D4A13E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43125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6FD3D9-F471-4955-84BB-31290BF3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90775"/>
            <a:ext cx="316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实例视图守住边界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1596DA-F948-42CD-86E1-ABA25B61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48025"/>
            <a:ext cx="31623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结构入口统一检查scope；“编辑定义”明确暂停并复位根仿真。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50D69F-53D8-4283-A07F-73B5DA3C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include/LogicSupport.h::Endpoint/Wire；src/DigitalEditor.cpp::change/route</a:t>
            </a:r>
          </a:p>
        </p:txBody>
      </p:sp>
    </p:spTree>
    <p:extLst>
      <p:ext uri="{BB962C8B-B14F-4D97-AF65-F5344CB8AC3E}">
        <p14:creationId xmlns:p14="http://schemas.microsoft.com/office/powerpoint/2010/main" val="12745720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6A520E-7CF2-49F0-8577-300811D9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PRACTICE EDA · 闫浩楠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05FE9B-0F33-4E12-8A64-6CAF00E3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75247-39F5-44B5-836E-6895BE47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从可编辑真值表，到等价门电路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F750F-407C-4D3A-9D24-40486EC2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505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57708F-CE37-4119-80AA-B0D20E48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5C2BD-54DC-48B4-9060-FD2A7CAB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90775"/>
            <a:ext cx="316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设计表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C1A22-886C-4246-B1D9-A44F9559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48025"/>
            <a:ext cx="31623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完整0/1输入组合；输出允许不关心项；CSV明确区分IN:/OUT:。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0ED11A-B7E4-4430-A8FD-4FFB232D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43125"/>
            <a:ext cx="3505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1DC9B6-F5A6-43C5-B05D-50FB7785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43125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282232-B648-4C75-BB80-ED2DA197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90775"/>
            <a:ext cx="316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化简与卡诺图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34DA2C-0FCB-45F5-8D79-AA233E12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48025"/>
            <a:ext cx="31623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Quine–McCluskey合并；4变量以内格雷码圈组；覆盖搜索有预算。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9E881E-B719-4E2C-8129-BB2111B8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43125"/>
            <a:ext cx="3505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036A4-7873-4B21-8796-C167DA4E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43125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A05759-AA81-4B01-B540-3B319C53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90775"/>
            <a:ext cx="316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生成并反验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204FD0-DB98-4219-A945-86B4F43A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48025"/>
            <a:ext cx="31623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生成AND/OR/NOT或仅NAND电路；新仿真器逐行比较确定输出。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E0A985-1D80-4325-814A-E855BA6E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src/LogicAnalysis.cpp::minimizeOutput/karnaughReport/synthesize</a:t>
            </a:r>
          </a:p>
        </p:txBody>
      </p:sp>
    </p:spTree>
    <p:extLst>
      <p:ext uri="{BB962C8B-B14F-4D97-AF65-F5344CB8AC3E}">
        <p14:creationId xmlns:p14="http://schemas.microsoft.com/office/powerpoint/2010/main" val="13724705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347EA2-0045-465C-9910-256A2B00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PRACTICE EDA · 闫浩楠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D0C05-9947-4127-ACC5-89163C15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A5550-B59B-4B2E-9BC1-95DF2430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正确性与最小性，分别给出证据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F2A6B-3368-42E1-BAA1-FD025F1E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505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7E8E9-EFE6-45FC-97B0-E25D8C1A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30989D-8277-423F-8D44-6DD34FE3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90775"/>
            <a:ext cx="316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等价性必须成立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872B1-F009-4A2D-BEAB-4510AABE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48025"/>
            <a:ext cx="31623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所有确定输出逐行验证；不关心项可自由选择；生成失败不覆盖原工程。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C6128-EB20-46FE-9A60-FB087460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43125"/>
            <a:ext cx="3505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D8BE31-3A05-4F0D-891E-FBC8DF59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43125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30104D-086B-406A-9FEE-9BBE6B6E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90775"/>
            <a:ext cx="316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最小性有条件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E8D357-0D71-47DB-8613-04E511A7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48025"/>
            <a:ext cx="31623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精确覆盖搜索耗尽预算时，结果仍等价，界面明确未证明最少项。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8FEE9-E4BC-4A4F-BA1A-D7CC0D29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43125"/>
            <a:ext cx="3505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703CC7-705E-4484-B26C-1B6D9DD4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43125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F789C6-3B46-49A0-826B-4256EB4F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90775"/>
            <a:ext cx="316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独立行为回归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2FDDAF-1499-4190-A973-B7742A99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48025"/>
            <a:ext cx="31623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全部16种二输入函数、随机四输入函数、NAND生成、CSV往返与常量边界。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70EF85-8744-424D-90B5-65633C55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tests/analysis_tests.cpp；src/LogicAnalysis.cpp</a:t>
            </a:r>
          </a:p>
        </p:txBody>
      </p:sp>
    </p:spTree>
    <p:extLst>
      <p:ext uri="{BB962C8B-B14F-4D97-AF65-F5344CB8AC3E}">
        <p14:creationId xmlns:p14="http://schemas.microsoft.com/office/powerpoint/2010/main" val="17043205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428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6DF72-06E0-486D-BF4D-363FD81A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rPr>
              <a:t>PRACTICE EDA · 闫浩楠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5EAD59-306E-4FC6-B64B-C4BD6635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43B7C6-5D02-4879-9FF7-433C9203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从静态电路，到随时间变化的状态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3B705-0CBA-4549-884F-2E39CB88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53721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65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42FE7-F835-453E-9443-83B11889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499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已说明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78213-D8BA-462C-9463-3975EEEA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4991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rPr>
              <a:t>编辑、回滚与等价综合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E5B2E8-B11F-4958-8B23-99CB3EB8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86200"/>
            <a:ext cx="53721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65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D2E0A8-F223-427E-A5BE-FDF02712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14800"/>
            <a:ext cx="499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接下来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CD7500-91A3-4D28-8B6F-93718D9F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62500"/>
            <a:ext cx="4991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rPr>
              <a:t>事件、时钟与真实实例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22172-3335-4774-9538-4569AA68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rPr>
              <a:t>四人板块交接</a:t>
            </a:r>
          </a:p>
        </p:txBody>
      </p:sp>
    </p:spTree>
    <p:extLst>
      <p:ext uri="{BB962C8B-B14F-4D97-AF65-F5344CB8AC3E}">
        <p14:creationId xmlns:p14="http://schemas.microsoft.com/office/powerpoint/2010/main" val="16358721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BEAD94-C0F7-4D1F-AEFB-E33D1B1C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PRACTICE EDA · 杨曙启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61BBF-C862-48B4-B12D-B8C942A4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ED22F4-7563-4ED2-B3CB-1A5C2789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同一时刻先求值，再统一发布变化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0032B-F613-45A1-92B9-193F494B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505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1FB0E9-0912-4C24-BE17-1E8F97B9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CA6B4-1E8C-44CB-A4F5-FB7ED45A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90775"/>
            <a:ext cx="316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编译阶段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1E083-8C77-4171-8869-8EFA3FCB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48025"/>
            <a:ext cx="31623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展开实例、合并端点、建立网络与依赖；完整路径隔离实例。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E29D0-2E25-45AA-89EE-0690CF7E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43125"/>
            <a:ext cx="3505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49F18F-F94F-4377-8CB6-5114AE59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43125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403DF1-4C76-466D-BB7B-23B30159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90775"/>
            <a:ext cx="316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运行阶段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8E7E38-627F-4869-A37B-430CB609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48025"/>
            <a:ext cx="31623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同时间批次读取旧网络；收集变化后统一解析，再安排后续事件。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BFDB4B-EF10-4A5D-AA03-C889166B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43125"/>
            <a:ext cx="3505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498D10-E21B-49F1-B6FC-4E82BABB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43125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9AE8D6-D3A6-4463-973B-F921803B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90775"/>
            <a:ext cx="316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保护与诊断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9000AB-DFBB-40AC-AD02-73846346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48025"/>
            <a:ext cx="31623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事件预算发现振荡；报告悬空、未知、驱动冲突与位宽错误。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1144E2-BDD1-4351-B722-2DC200BE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src/Digital.cpp::Simulator::Impl/step/settle；tests/digital_tests.cpp</a:t>
            </a:r>
          </a:p>
        </p:txBody>
      </p:sp>
    </p:spTree>
    <p:extLst>
      <p:ext uri="{BB962C8B-B14F-4D97-AF65-F5344CB8AC3E}">
        <p14:creationId xmlns:p14="http://schemas.microsoft.com/office/powerpoint/2010/main" val="20388398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A462D8-A408-4CA1-B09A-0C684A96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PRACTICE EDA · 杨曙启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3C8A4-D11A-46C8-AC5B-BAE940D3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ABE73-22F6-4DF8-9306-7F308452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逐位信号与双向开关，保留电气含义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9A836-26DE-4353-B194-EBD224E8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505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42A2F-3959-4E33-93C0-8F3B12F4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E1F40-6EF0-486C-9BE5-25F09B75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90775"/>
            <a:ext cx="316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五种显示状态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4DC3B-F03B-4551-8ABD-EC479444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48025"/>
            <a:ext cx="31623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确定0、确定1、未知X、高阻Z、驱动冲突E；总线逐位解析。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5B74E7-89E6-488F-8688-036C0F9D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43125"/>
            <a:ext cx="3505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3EB7EF-818F-4EA9-8EDC-8881D362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43125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DBE8E4-D5E8-479F-A560-CD6D1538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90775"/>
            <a:ext cx="316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真实双向导通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9E68D6-F984-4B4A-843A-A0CFC8D2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48025"/>
            <a:ext cx="31623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晶体管/传输门按控制连接两侧网络，支持反向驱动和关闭隔离。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7505E0-9F41-49C7-9885-9914CDAD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43125"/>
            <a:ext cx="3505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A17962-E327-4110-A6EA-CF15C4D6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43125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328BC6-EEC2-4C58-B862-F0B4C5B6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90775"/>
            <a:ext cx="316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驱动强弱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9D6CB5-0D0C-46D4-A1F4-398271C2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48025"/>
            <a:ext cx="31623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弱上拉/下拉在强驱动存在时让步；未知控制采用保守解析。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371F08-F910-4647-83FA-4B13D2C9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src/Digital.cpp::Signal/resolve/开关网络；tests/advanced_core_tests.cpp</a:t>
            </a:r>
          </a:p>
        </p:txBody>
      </p:sp>
    </p:spTree>
    <p:extLst>
      <p:ext uri="{BB962C8B-B14F-4D97-AF65-F5344CB8AC3E}">
        <p14:creationId xmlns:p14="http://schemas.microsoft.com/office/powerpoint/2010/main" val="211264737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7A3DDB-A509-430C-A052-08A62C8D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PRACTICE EDA · 杨曙启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504D2-C605-4B3A-9924-4F6546CB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017A2-03FF-4744-9CD9-2EB179D0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时钟、寄存器和存储，拥有各自的规则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CCD41-7896-40B6-99E3-3C6A2EE7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505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8D8831-D956-4285-B057-2F6C488E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15D66-A5FC-4CFA-B7FD-D8951BA5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90775"/>
            <a:ext cx="316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独立基础节拍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5F2C31-B65A-4041-B75A-1401D95C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48025"/>
            <a:ext cx="31623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每个时钟配置高/低持续节拍与相位；界面播放速度不改变逻辑规则。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E8190D-DFB4-4D86-B09A-A4A1B165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43125"/>
            <a:ext cx="3505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CF0BF7-8A07-4074-BE55-368011C5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43125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FAA81D-B764-4103-8094-04EDDE92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90775"/>
            <a:ext cx="316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可配置状态元件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AC778D-8B67-445A-B82A-1C9D813B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48025"/>
            <a:ext cx="31623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上升/下降沿、计数上限、装载与清零；边沿明确才采样。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0692E-BF03-4DE7-A1EF-C6F932E7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43125"/>
            <a:ext cx="3505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4DD707-D591-45FE-AFF3-A1D3670C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43125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5D6D65-C445-44FA-BA2E-A45B31A5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90775"/>
            <a:ext cx="316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实例内存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55D3D8-2E37-43EB-BD2D-5FEFB246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48025"/>
            <a:ext cx="31623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1—16地址位，最大65536字；HEX初值读写，运行内容只读。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797D76-595E-4F19-9A24-D8A3DBBE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src/Digital.cpp::tick/evaluate/memory；src/LogicEditorTools.cpp::memoryEditor</a:t>
            </a:r>
          </a:p>
        </p:txBody>
      </p:sp>
    </p:spTree>
    <p:extLst>
      <p:ext uri="{BB962C8B-B14F-4D97-AF65-F5344CB8AC3E}">
        <p14:creationId xmlns:p14="http://schemas.microsoft.com/office/powerpoint/2010/main" val="4088421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79886F-71FE-46FB-A013-8844FA80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PRACTICE EDA · 杨曙启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F91EC2-76EB-46C0-A688-395D32AC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2D1DA8-9BB2-4E01-92F6-F03AE474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重点：进入真实实例，状态始终连续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50F3E-DFF4-4970-B364-9BBE64E033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4be8a25b1e4ab6"/>
          <a:stretch xmlns:a="http://schemas.openxmlformats.org/drawingml/2006/main"/>
        </p:blipFill>
        <p:spPr>
          <a:xfrm xmlns:a="http://schemas.openxmlformats.org/drawingml/2006/main">
            <a:off x="1211266" y="2143125"/>
            <a:ext cx="6226168" cy="4048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8E665F-A4DD-49FC-B243-5CB52FA6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真实画布导出：main/left/inner；寄存器与RAM输出0x12，右实例独立保持0x34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020A9-3006-4C28-9ED2-33E2A91B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38375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左实例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4CD1F-2598-4F8C-90FD-BC5DD0E8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3219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寄存器与RAM写入0x12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23E94D-E8A9-4BDB-8531-FD8A7B4C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2425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右实例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2CEDA0-DCD7-4B24-AE01-51496C31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10025"/>
            <a:ext cx="3219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同一定义独立写入0x34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A16302-89B1-42E1-8E2A-CB1EC6AD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10125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运行 / 暂停都可导航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26E223-F7C0-43AD-990C-2739A834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295900"/>
            <a:ext cx="3219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进入、返回、切换保持同一Simulator、time和ticks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1F6C48-F880-4FC1-9519-702CFDAA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src/DigitalEditor.cpp::enterInstance/navigateTo/read/runSmoke；HIERARCHY-UI-PASS.txt</a:t>
            </a:r>
          </a:p>
        </p:txBody>
      </p:sp>
    </p:spTree>
    <p:extLst>
      <p:ext uri="{BB962C8B-B14F-4D97-AF65-F5344CB8AC3E}">
        <p14:creationId xmlns:p14="http://schemas.microsoft.com/office/powerpoint/2010/main" val="5798291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741DF2-E70E-49A5-A6F2-3CDF82B9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PRACTICE EDA · 杨曙启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988A68-A004-48A7-99F3-EBEB6DF1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476071-55CE-4613-A5F6-7E324C4B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观察、运行操作、修改定义，边界明确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2EC202-9A20-4E56-88A8-BA1317C96858}"/>
              </a:ext>
            </a:extLst>
          </p:cNvPr>
          <p:cNvGraphicFramePr/>
          <p:nvPr/>
        </p:nvGraphicFramePr>
        <p:xfrm>
          <a:off xmlns:a="http://schemas.openxmlformats.org/drawingml/2006/main" x="609600" y="2238375"/>
          <a:ext xmlns:a="http://schemas.openxmlformats.org/drawingml/2006/main" cx="109728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191000"/>
                <a:gridCol w="4305300"/>
              </a:tblGrid>
              <a:tr h="6096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</a:t>
                      </a:r>
                    </a:p>
                  </a:txBody>
                  <a:tcPr marL="91440" marR="91440" marT="45720" marB="45720">
                    <a:solidFill>
                      <a:srgbClr val="234C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实例视图行为</a:t>
                      </a:r>
                    </a:p>
                  </a:txBody>
                  <a:tcPr marL="91440" marR="91440" marT="45720" marB="45720">
                    <a:solidFill>
                      <a:srgbClr val="234C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是否复位</a:t>
                      </a:r>
                    </a:p>
                  </a:txBody>
                  <a:tcPr marL="91440" marR="91440" marT="45720" marB="45720">
                    <a:solidFill>
                      <a:srgbClr val="234CC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查看信号 / RAM / 返回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读取完整实例路径的真实状态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操作内部按钮 / 键盘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改变当前实例运行输入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修改父驱动接口Input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只读，回父层操作信号源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修改连线 / 参数 / 初值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进入“编辑定义”，暂停根仿真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保存工程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保存结构和初值，不保存隐式运行快照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DC73D-EC49-4933-BAAE-0C8E90F0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用户确认的A08行为；src/DigitalEditor.cpp；src/LogicEditorTools.cpp</a:t>
            </a:r>
          </a:p>
        </p:txBody>
      </p:sp>
    </p:spTree>
    <p:extLst>
      <p:ext uri="{BB962C8B-B14F-4D97-AF65-F5344CB8AC3E}">
        <p14:creationId xmlns:p14="http://schemas.microsoft.com/office/powerpoint/2010/main" val="202429024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428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DB92C5-AB74-48FF-9B18-C1D35140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rPr>
              <a:t>PRACTICE EDA · 杨曙启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2C622-F731-4175-A09A-1B68599B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C302B-8F90-4728-ACF7-7856B183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从运行结果，到可交换、可复核的证据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EB089-6A4D-499F-BC43-58817EB8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53721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65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852D0-5001-4085-86A9-2FD5DC9D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499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已说明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9AAD8-485D-4D12-B7D1-DCB8838D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4991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rPr>
              <a:t>事件语义、独立实例与连续状态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E8988F-7CFA-41D6-81BF-8AE13712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86200"/>
            <a:ext cx="53721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65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C09F33-F423-440A-889F-B9650F92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14800"/>
            <a:ext cx="499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接下来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0CEBAC-850D-4553-8052-BF90370E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62500"/>
            <a:ext cx="4991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rPr>
              <a:t>.circ、网表、日志与验证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DA1BF0-0584-4BBC-BFE5-FD2286C8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CD3F2"/>
                </a:solidFill>
                <a:latin typeface="Microsoft YaHei"/>
                <a:ea typeface="Microsoft YaHei"/>
                <a:cs typeface="Microsoft YaHei"/>
              </a:rPr>
              <a:t>四人板块交接</a:t>
            </a:r>
          </a:p>
        </p:txBody>
      </p:sp>
    </p:spTree>
    <p:extLst>
      <p:ext uri="{BB962C8B-B14F-4D97-AF65-F5344CB8AC3E}">
        <p14:creationId xmlns:p14="http://schemas.microsoft.com/office/powerpoint/2010/main" val="211982157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1A4B88-322A-44AE-9585-2994D6DF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PRACTICE EDA · 黄歆贻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80999-0477-4A99-A362-47733B49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B31D7F-ED16-4299-B76C-8E83FC13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.circ交换：用双方软件验证通用能力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2EFA9-3903-4F3A-8213-A1750757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505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089198-7A92-4BC1-AE99-05E6085D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12BE68-9FEB-415F-99BB-3F81B7CA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90775"/>
            <a:ext cx="316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标准XML与层次定义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F098D-A672-4C9E-AE9D-7DDC4ED4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48025"/>
            <a:ext cx="31623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内置元件、端口、appear与Tunnel网络；多层子电路保留稳定接口。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2ADC54-EF22-4DAC-B989-0E6B6746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43125"/>
            <a:ext cx="3505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BE946-841E-497B-A425-00ED25ED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43125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D44E4B-FCEC-41CF-BC0B-8AAE69DE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90775"/>
            <a:ext cx="316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几何与语义转换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576E01-159C-4047-B7C0-E86DC547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48025"/>
            <a:ext cx="31623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重排布局适配不同符号尺寸；位映射与RAM初值必要时生成包装子电路。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8C6145-1FD3-4221-8E3A-6DEC3992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43125"/>
            <a:ext cx="3505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4306A6-9942-44B2-9E2F-3D504BE2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43125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1F8177-6CFB-45A3-AD6F-709BC1E1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90775"/>
            <a:ext cx="316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明确拒绝或提示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F8D3AA-1810-4DEE-BFEC-EBAB1F03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48025"/>
            <a:ext cx="31623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外部JAR等特殊元件不冒充等价；非零状态初态和运行值遵守已说明限制。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C771A4-3C28-4D3C-9790-E7D06031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src/CircImport.cpp；src/CircExport.cpp；tests/circ_exchange_tests.cpp</a:t>
            </a:r>
          </a:p>
        </p:txBody>
      </p:sp>
    </p:spTree>
    <p:extLst>
      <p:ext uri="{BB962C8B-B14F-4D97-AF65-F5344CB8AC3E}">
        <p14:creationId xmlns:p14="http://schemas.microsoft.com/office/powerpoint/2010/main" val="202660991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F8636A-EC25-45C4-B8A1-7A5AD631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PRACTICE EDA · 黄歆贻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F1C45-9FAE-481F-8D68-869A799B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DCFC1-89E1-42E9-B404-E5A2863A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PCB网表：从抽象端口走到实体引脚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E9F71-6EA6-4749-ADFC-8267BBD6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505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A6C667-8A8B-4B3B-90FF-B3D40892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945B5-DB09-4039-8DC3-50FAA98E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90775"/>
            <a:ext cx="316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逻辑连接报告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3599E0-4C8A-422A-8FB5-DFBDF460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48025"/>
            <a:ext cx="31623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原生网络报告用于调试，可逐位展开总线；它不自动获得实体封装。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56C70-74B0-42B1-A440-B28E3F25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43125"/>
            <a:ext cx="3505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E96609-0FCA-47CD-A0B7-106B6337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43125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592ABF-4E14-4C5C-80F0-58BB2DC7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90775"/>
            <a:ext cx="316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实体映射示例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2AED9F-6931-4A1A-8BCA-7CB0A15A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48025"/>
            <a:ext cx="31623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组合逻辑按受支持芯片/封装映射引脚，电源与连接器明确列出。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0E3437-87CA-4A14-AC45-0160F435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43125"/>
            <a:ext cx="3505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0E3BD8-818A-4B16-AFA6-748F9B61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43125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856DAD-1B0A-47B1-B86C-9953F5FD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90775"/>
            <a:ext cx="316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实际加载验证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5CB85B-60AD-483E-9758-B8CC4C3B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48025"/>
            <a:ext cx="31623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输出标准网表及对应PCB结果；对照封装、焊盘和网络，记录工具版本。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5E93F2-B92C-4EDD-8F7E-1E6B6F5A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docs/CUSTOM_COMPONENTS_NETLIST_CN.md；PCB交换示例与验证日志</a:t>
            </a:r>
          </a:p>
        </p:txBody>
      </p:sp>
    </p:spTree>
    <p:extLst>
      <p:ext uri="{BB962C8B-B14F-4D97-AF65-F5344CB8AC3E}">
        <p14:creationId xmlns:p14="http://schemas.microsoft.com/office/powerpoint/2010/main" val="111950656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5A6C12-FE71-45C0-AEE4-D6038D55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PRACTICE EDA · 黄歆贻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23040-1E0A-4E06-9DD7-FF0982C2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080C00-9571-432A-94DB-DA27A548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日志、诊断与输出，服务完整演示流程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2011C-15C2-485D-ABEC-272BFF7C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505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CAC89-ED31-4CFE-AE21-F3FF9C4D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DDBB2D-2EAE-438F-B0C5-5376569E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90775"/>
            <a:ext cx="316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选定路径持续记录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562D4E-135F-468E-8A1A-6CB2B44A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48025"/>
            <a:ext cx="31623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按完整实例路径选择信号；CSV事件接收器持续写盘，不受2000条显示缓存限制。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0F865-A6E1-48B6-ABA8-06A5BA81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43125"/>
            <a:ext cx="3505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35888E-5948-4A89-BDA5-22E74099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43125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52F5F6-1D6E-4C06-A359-71A1603A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90775"/>
            <a:ext cx="316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定位与常用入口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660B66-FEDC-4FA4-B308-B7AAD66A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48025"/>
            <a:ext cx="31623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分级诊断、双击定位；上下文菜单；最近文件与示例模板。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74F1ED-6B49-40C5-BD1F-86395593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43125"/>
            <a:ext cx="3505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9773B7-1DFB-4F1C-93F8-94152E96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43125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F0874B-0434-49E6-897D-7D357D94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90775"/>
            <a:ext cx="316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展示与交付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11012D-98AC-49B7-899A-C6FB39D2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48025"/>
            <a:ext cx="31623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缩放批量PNG、打印预览与打印；网页演示与可编辑PowerPoint同步。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569542-7BBF-447D-A579-45FFFF17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src/LogicEditorTools.cpp::monitorSignals/exportPictures/printCircuit；src/DigitalEditor.cpp</a:t>
            </a:r>
          </a:p>
        </p:txBody>
      </p:sp>
    </p:spTree>
    <p:extLst>
      <p:ext uri="{BB962C8B-B14F-4D97-AF65-F5344CB8AC3E}">
        <p14:creationId xmlns:p14="http://schemas.microsoft.com/office/powerpoint/2010/main" val="78914641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85BBEC-F2FD-4D35-9AB0-72553A3A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PRACTICE EDA · 黄歆贻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427BB-2850-4FEA-9FC8-BA4D5254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54064-CBE9-4E0E-B1D3-9E2F466B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验证结论，都能找到对应结果文件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D1EC8A-14A4-4ECD-8D4B-F75A0C52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505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54D4E-189D-439A-ABA8-0F68A6A4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BF955-B851-4F37-84DB-AC13FD27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90775"/>
            <a:ext cx="316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核心行为回归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1123C-9962-412F-9191-00DF8A07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48025"/>
            <a:ext cx="31623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Debug / Release CTest；原有行为与新增参数、综合、实例、交换测试。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36C67A-FE0C-4E57-A4E6-409896B2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43125"/>
            <a:ext cx="3505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78A820-A424-4C68-B8C2-C915D624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43125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3659F2-0EE1-40EB-B687-241085BF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90775"/>
            <a:ext cx="316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GUI集成回归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A7124D-89A8-49C5-A41E-3A1B2FB9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48025"/>
            <a:ext cx="31623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真实菜单与画布路径；实例导航、只读保护、按钮隔离、截图与标志文件。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03A361-53DA-429B-82E6-0EB4235C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43125"/>
            <a:ext cx="3505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75AAF9-98E9-473E-BE41-5868D111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43125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03C762-E4BB-42A4-9195-91493CB7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90775"/>
            <a:ext cx="3162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外部工具对照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5BE3E9-FBC9-44E1-BBD9-CB057A1B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48025"/>
            <a:ext cx="31623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Logisim加载与输出比较；PCB加载与网络对照；附日志与准确限制。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B4B3E6-DF02-4A02-9179-C4AAF3EF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docs/TEST_REPORT_CN.md；docs/defense/evidence</a:t>
            </a:r>
          </a:p>
        </p:txBody>
      </p:sp>
    </p:spTree>
    <p:extLst>
      <p:ext uri="{BB962C8B-B14F-4D97-AF65-F5344CB8AC3E}">
        <p14:creationId xmlns:p14="http://schemas.microsoft.com/office/powerpoint/2010/main" val="141869067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35EADE-6C6D-4C12-8495-A1F840F0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PRACTICE EDA · 黄歆贻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37B92-BB3E-4797-B730-16D3DC3B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E723C-B8E1-43D1-B4B8-2F362B05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现场演示：四个结果，串起核心能力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89856-643F-4473-9F32-A61B3A0D18F4}"/>
              </a:ext>
            </a:extLst>
          </p:cNvPr>
          <p:cNvGraphicFramePr/>
          <p:nvPr/>
        </p:nvGraphicFramePr>
        <p:xfrm>
          <a:off xmlns:a="http://schemas.openxmlformats.org/drawingml/2006/main" x="609600" y="2238375"/>
          <a:ext xmlns:a="http://schemas.openxmlformats.org/drawingml/2006/main" cx="109728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191000"/>
                <a:gridCol w="4305300"/>
              </a:tblGrid>
              <a:tr h="6096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</a:t>
                      </a:r>
                    </a:p>
                  </a:txBody>
                  <a:tcPr marL="91440" marR="91440" marT="45720" marB="45720">
                    <a:solidFill>
                      <a:srgbClr val="234C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</a:t>
                      </a:r>
                    </a:p>
                  </a:txBody>
                  <a:tcPr marL="91440" marR="91440" marT="45720" marB="45720">
                    <a:solidFill>
                      <a:srgbClr val="234C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预期结果</a:t>
                      </a:r>
                    </a:p>
                  </a:txBody>
                  <a:tcPr marL="91440" marR="91440" marT="45720" marB="45720">
                    <a:solidFill>
                      <a:srgbClr val="234CC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组合逻辑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半加器A=B=1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Sum=0，Carry=1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时序与RAM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打开层次模板，推进写入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左12、右34，状态独立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多层调试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逐层进入、返回，操作内部按钮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不复位，仅当前实例变化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分析与交换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真值表综合、.circ和PCB示例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逐行等价、双方加载可核对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481865-FDD6-4151-A59A-74322B6A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examples/half-adder.logic.json；examples/defense-hierarchy.logic.json；演示说明</a:t>
            </a:r>
          </a:p>
        </p:txBody>
      </p:sp>
    </p:spTree>
    <p:extLst>
      <p:ext uri="{BB962C8B-B14F-4D97-AF65-F5344CB8AC3E}">
        <p14:creationId xmlns:p14="http://schemas.microsoft.com/office/powerpoint/2010/main" val="150783238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139601-0E50-463D-B28A-AD8234A6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PRACTICE EDA · 全体成员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3D256-0DB6-4D19-930B-3029F2F1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710CD-BFAE-4B4C-B252-523DAC08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把每一项能力，落到可解释的结果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4E42B4-450E-4966-A290-0BCF18C0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2571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2EE86D-E86F-47A5-9273-7E988D10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257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31C41-0293-4D29-A98F-36E38FA1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90775"/>
            <a:ext cx="2228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常人元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D4ACE-6244-4111-A2F6-0ECA92E6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48025"/>
            <a:ext cx="22288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统一模型与明确验收，让扩展有共同基础。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8FED28-F228-4589-8DC5-794BEE80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43125"/>
            <a:ext cx="2571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6F0A72-4F64-4049-A181-CBA71476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43125"/>
            <a:ext cx="257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526A40-948C-4963-A635-DB5397FC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90775"/>
            <a:ext cx="2228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闫浩楠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0CC7D-7BC8-42E8-A718-7008E138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48025"/>
            <a:ext cx="22288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可靠编辑与反向验证，让生成结果可恢复、可检查。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319675-8EF7-418D-B2EE-5769837A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43125"/>
            <a:ext cx="2571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3A5AEC-D4D6-48E5-B95C-1797D5FA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43125"/>
            <a:ext cx="257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354CE6-1B51-4C0C-9D4B-658CDED5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90775"/>
            <a:ext cx="2228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杨曙启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0341A4-DFE3-480B-815B-89C37962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48025"/>
            <a:ext cx="22288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完整实例路径与连续状态，让层次调试可信。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6B2A08-3546-4563-9435-7571E8AD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43125"/>
            <a:ext cx="2571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2FEEE7-2AB9-4200-B910-0BA247FF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43125"/>
            <a:ext cx="257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CC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67216B-B8EA-4E16-B21D-91823B2D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90775"/>
            <a:ext cx="2228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黄歆贻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8AA691-16F9-4FA6-B51B-4CBD8C0F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48025"/>
            <a:ext cx="22288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真实交换与证据边界，让交付结论可复核。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CE8AF7-2E1D-448C-A06E-2D75F51E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0657E"/>
                </a:solidFill>
                <a:latin typeface="Microsoft YaHei"/>
                <a:ea typeface="Microsoft YaHei"/>
                <a:cs typeface="Microsoft YaHei"/>
              </a:rPr>
              <a:t>全组共同总结</a:t>
            </a:r>
          </a:p>
        </p:txBody>
      </p:sp>
    </p:spTree>
    <p:extLst>
      <p:ext uri="{BB962C8B-B14F-4D97-AF65-F5344CB8AC3E}">
        <p14:creationId xmlns:p14="http://schemas.microsoft.com/office/powerpoint/2010/main" val="5022784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2026-10-08T12:29:07.4830000Z</dcterms:created>
  <dcterms:modified xsi:type="dcterms:W3CDTF">2026-10-08T12:29:07.4830000Z</dcterms:modified>
</coreProperties>
</file>